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B5237F8-1589-CC99-00C3-28B3622652F9}">
          <p14:sldIdLst>
            <p14:sldId id="256"/>
            <p14:sldId id="257"/>
            <p14:sldId id="258"/>
            <p14:sldId id="259"/>
            <p14:sldId id="260"/>
          </p14:sldIdLst>
        </p14:section>
        <p14:section name="System Design" id="{A5295964-EF1A-7DD0-35BF-013B28083CE5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Implementation" id="{505DFD60-0D01-0274-BF59-49F06ABCF679}">
          <p14:sldIdLst>
            <p14:sldId id="267"/>
            <p14:sldId id="268"/>
            <p14:sldId id="269"/>
          </p14:sldIdLst>
        </p14:section>
        <p14:section name="Results" id="{522CAEB3-361C-5D1B-4A3E-40E2AB187D88}">
          <p14:sldIdLst>
            <p14:sldId id="270"/>
            <p14:sldId id="271"/>
            <p14:sldId id="272"/>
            <p14:sldId id="273"/>
          </p14:sldIdLst>
        </p14:section>
        <p14:section name="Wrap-up" id="{AABCB567-2E22-6157-2F1E-92A935001298}">
          <p14:sldIdLst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22"/>
                </a:solidFill>
                <a:latin typeface="+mn-lt"/>
              </a:rPr>
              <a:t>Cross-validation accuracy vs C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5-fold CV accuracy (%)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0.01</c:v>
                </c:pt>
                <c:pt idx="1">
                  <c:v>0.1</c:v>
                </c:pt>
                <c:pt idx="2">
                  <c:v>1</c:v>
                </c:pt>
                <c:pt idx="3">
                  <c:v>10</c:v>
                </c:pt>
                <c:pt idx="4">
                  <c:v>100</c:v>
                </c:pt>
                <c:pt idx="5">
                  <c:v>1000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79.09</c:v>
                </c:pt>
                <c:pt idx="1">
                  <c:v>93.18</c:v>
                </c:pt>
                <c:pt idx="2">
                  <c:v>96.82</c:v>
                </c:pt>
                <c:pt idx="3">
                  <c:v>97.73</c:v>
                </c:pt>
                <c:pt idx="4">
                  <c:v>97.78</c:v>
                </c:pt>
                <c:pt idx="5">
                  <c:v>97.67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C0-4F2D-B6AC-28C888909E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746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E7466"/>
                    </a:solidFill>
                    <a:latin typeface="+mn-lt"/>
                  </a:rPr>
                  <a:t>C (inverse regularisation)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4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DDE6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4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22"/>
                </a:solidFill>
                <a:latin typeface="+mn-lt"/>
              </a:rPr>
              <a:t>Test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4D3-4A87-9F86-2A9746373E7A}"/>
              </c:ext>
            </c:extLst>
          </c:dPt>
          <c:dPt>
            <c:idx val="1"/>
            <c:invertIfNegative val="0"/>
            <c:bubble3D val="0"/>
            <c:spPr>
              <a:solidFill>
                <a:srgbClr val="6FA7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D3-4A87-9F86-2A9746373E7A}"/>
              </c:ext>
            </c:extLst>
          </c:dPt>
          <c:dPt>
            <c:idx val="2"/>
            <c:invertIfNegative val="0"/>
            <c:bubble3D val="0"/>
            <c:spPr>
              <a:solidFill>
                <a:srgbClr val="6FA7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D3-4A87-9F86-2A9746373E7A}"/>
              </c:ext>
            </c:extLst>
          </c:dPt>
          <c:dPt>
            <c:idx val="3"/>
            <c:invertIfNegative val="0"/>
            <c:bubble3D val="0"/>
            <c:spPr>
              <a:solidFill>
                <a:srgbClr val="6FA7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D3-4A87-9F86-2A9746373E7A}"/>
              </c:ext>
            </c:extLst>
          </c:dPt>
          <c:dPt>
            <c:idx val="4"/>
            <c:invertIfNegative val="0"/>
            <c:bubble3D val="0"/>
            <c:spPr>
              <a:solidFill>
                <a:srgbClr val="6FA7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4D3-4A87-9F86-2A9746373E7A}"/>
              </c:ext>
            </c:extLst>
          </c:dPt>
          <c:dPt>
            <c:idx val="5"/>
            <c:invertIfNegative val="0"/>
            <c:bubble3D val="0"/>
            <c:spPr>
              <a:solidFill>
                <a:srgbClr val="6FA7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4D3-4A87-9F86-2A9746373E7A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LR (tuned)</c:v>
                </c:pt>
                <c:pt idx="1">
                  <c:v>Naive Bayes</c:v>
                </c:pt>
                <c:pt idx="2">
                  <c:v>KNN (k=5)</c:v>
                </c:pt>
                <c:pt idx="3">
                  <c:v>SVM (RBF)</c:v>
                </c:pt>
                <c:pt idx="4">
                  <c:v>Decision Tree</c:v>
                </c:pt>
                <c:pt idx="5">
                  <c:v>Random Forest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98.41</c:v>
                </c:pt>
                <c:pt idx="1">
                  <c:v>99.55</c:v>
                </c:pt>
                <c:pt idx="2">
                  <c:v>97.95</c:v>
                </c:pt>
                <c:pt idx="3">
                  <c:v>98.41</c:v>
                </c:pt>
                <c:pt idx="4">
                  <c:v>97.95</c:v>
                </c:pt>
                <c:pt idx="5">
                  <c:v>99.55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4D3-4A87-9F86-2A9746373E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74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5"/>
        </c:scaling>
        <c:delete val="0"/>
        <c:axPos val="l"/>
        <c:majorGridlines>
          <c:spPr>
            <a:ln w="6350" cap="flat">
              <a:solidFill>
                <a:srgbClr val="DDE6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4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250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guide and the project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Crop choice affects yield and income. ML can turn soil and climate data into a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gap: crop selection is subjective and ignores how soil and climate interact.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project: high-impact use of ML and a clean multi-class problem to study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objective, then five specific objectives that map to the project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crop choice is manual: experience, local practice and rough weather or soil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data-driven model that reads seven inputs and returns a crop with probabilities.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→ processing → model →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steps from raw data to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on a standard Python data-science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modules make up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Scaling and the model live in one Pipeline; C is tuned on the training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Crop Recommendation Dataset (Kaggle, CSV): clean and perfectly 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Softmax regression: one linear score per crop, converted to probabilities.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Weighted metrics on the 440-sample test set; C chosen by 5-fold CV on 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errors, all between crops with overlapping growing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split and scaling; only Logistic Regression was tuned.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Console-style walkthrough of one prediction; the same code runs in the project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 of the system and how it improves on the manual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the recommender can be used and by whom.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boundaries of the current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Improve the model, widen the inputs, then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achievement, outcome and contribution.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466"/>
                </a:solidFill>
              </a:rPr>
              <a:t>Crop Recommendation Using Multinomial Logistic Regression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417320"/>
            <a:ext cx="70408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F4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D0BF"/>
                </a:solidFill>
              </a:rPr>
              <a:t>Crop Recommendation Using Multinomial Logistic Regression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7D0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 CASE-STUDY BASED PRESENTATION  |  MACHINE LEARNING  |  B.TECH  |  A.Y. 2026-27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417320"/>
            <a:ext cx="7040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Crop Recommendation Using Multinomial Logistic Regression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Department of Computer Science &amp; Information Technology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891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7D0BF"/>
                </a:solidFill>
              </a:rPr>
              <a:t>Koneru Lakshmaiah Education Foundation (Deemed to be University), Hyderabad</a:t>
            </a:r>
            <a:endParaRPr lang="en-US" sz="1600" dirty="0"/>
          </a:p>
        </p:txBody>
      </p:sp>
      <p:sp>
        <p:nvSpPr>
          <p:cNvPr id="6" name="team card"/>
          <p:cNvSpPr/>
          <p:nvPr/>
        </p:nvSpPr>
        <p:spPr>
          <a:xfrm>
            <a:off x="8046720" y="1280160"/>
            <a:ext cx="3593592" cy="3749040"/>
          </a:xfrm>
          <a:prstGeom prst="roundRect">
            <a:avLst>
              <a:gd name="adj" fmla="val 3053"/>
            </a:avLst>
          </a:prstGeom>
          <a:solidFill>
            <a:srgbClr val="2A60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0" y="1508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TEAM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18288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CH. Sai Vihamsh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B7D0BF"/>
                </a:solidFill>
              </a:rPr>
              <a:t>2520090090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S. Pardhu Saradhi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B7D0BF"/>
                </a:solidFill>
              </a:rPr>
              <a:t>2520090043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I. Vikram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7D0BF"/>
                </a:solidFill>
              </a:rPr>
              <a:t>2520090118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GUIDE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4114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Dr. Y. Lakshmi Prasanna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7D0BF"/>
                </a:solidFill>
              </a:rPr>
              <a:t>Asst. Professor, Dept. of CS&amp;IT</a:t>
            </a:r>
            <a:endParaRPr lang="en-US" sz="1500" dirty="0"/>
          </a:p>
        </p:txBody>
      </p:sp>
      <p:sp>
        <p:nvSpPr>
          <p:cNvPr id="11" name="logo card"/>
          <p:cNvSpPr/>
          <p:nvPr/>
        </p:nvSpPr>
        <p:spPr>
          <a:xfrm>
            <a:off x="640080" y="5532120"/>
            <a:ext cx="758952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</p:spPr>
      </p:sp>
      <p:pic>
        <p:nvPicPr>
          <p:cNvPr id="12" name="banner" descr="Koneru Lakshmaiah Education Foundation ban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41848"/>
            <a:ext cx="7223760" cy="740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Introduction</a:t>
            </a:r>
            <a:endParaRPr lang="en-US" sz="3600" dirty="0"/>
          </a:p>
        </p:txBody>
      </p:sp>
      <p:sp>
        <p:nvSpPr>
          <p:cNvPr id="4" name="intro card 0"/>
          <p:cNvSpPr/>
          <p:nvPr/>
        </p:nvSpPr>
        <p:spPr>
          <a:xfrm>
            <a:off x="548640" y="155448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intro 0 badge"/>
          <p:cNvSpPr/>
          <p:nvPr/>
        </p:nvSpPr>
        <p:spPr>
          <a:xfrm>
            <a:off x="868680" y="1828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ntro 0 icon" descr="intro 0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2023110"/>
            <a:ext cx="388620" cy="3886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Background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33832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Crop choice decides yield, income and food supply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crop needs its own nutrients, temperature, humidity, rainfall and pH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wrong choice lowers productivity and causes financial loss</a:t>
            </a:r>
            <a:endParaRPr lang="en-US" sz="1600" dirty="0"/>
          </a:p>
        </p:txBody>
      </p:sp>
      <p:sp>
        <p:nvSpPr>
          <p:cNvPr id="9" name="intro card 1"/>
          <p:cNvSpPr/>
          <p:nvPr/>
        </p:nvSpPr>
        <p:spPr>
          <a:xfrm>
            <a:off x="4334256" y="155448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intro 1 badge"/>
          <p:cNvSpPr/>
          <p:nvPr/>
        </p:nvSpPr>
        <p:spPr>
          <a:xfrm>
            <a:off x="4654296" y="182880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ntro 1 icon" descr="intro 1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606" y="2023110"/>
            <a:ext cx="388620" cy="3886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54296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Domain overview</a:t>
            </a:r>
            <a:endParaRPr lang="en-US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4654296" y="33832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Machine learning in agriculture (smart farming)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Supervised multi-class classification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Multinomial Logistic Regression predicts 1 of 22 crops</a:t>
            </a:r>
            <a:endParaRPr lang="en-US" sz="1600" dirty="0"/>
          </a:p>
        </p:txBody>
      </p:sp>
      <p:sp>
        <p:nvSpPr>
          <p:cNvPr id="14" name="intro card 2"/>
          <p:cNvSpPr/>
          <p:nvPr/>
        </p:nvSpPr>
        <p:spPr>
          <a:xfrm>
            <a:off x="8119872" y="155448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intro 2 badge"/>
          <p:cNvSpPr/>
          <p:nvPr/>
        </p:nvSpPr>
        <p:spPr>
          <a:xfrm>
            <a:off x="8439912" y="1828800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intro 2 icon" descr="intro 2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222" y="2023110"/>
            <a:ext cx="388620" cy="3886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39912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Why it is needed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8439912" y="33832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Farmers often decide from experience or neighbours’ practice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quick, data-driven recommendation is needed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Class probabilities make the advice easy to explain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4" name="problem banner"/>
          <p:cNvSpPr/>
          <p:nvPr/>
        </p:nvSpPr>
        <p:spPr>
          <a:xfrm>
            <a:off x="548640" y="146304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Farmers lack a quick, accurate, data-driven way to decide which of many crops suits their soil and climate.</a:t>
            </a:r>
            <a:endParaRPr lang="en-US" sz="1800" dirty="0"/>
          </a:p>
        </p:txBody>
      </p:sp>
      <p:sp>
        <p:nvSpPr>
          <p:cNvPr id="6" name="problem card 0"/>
          <p:cNvSpPr/>
          <p:nvPr/>
        </p:nvSpPr>
        <p:spPr>
          <a:xfrm>
            <a:off x="548640" y="2651760"/>
            <a:ext cx="35204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problem 0 badge"/>
          <p:cNvSpPr/>
          <p:nvPr/>
        </p:nvSpPr>
        <p:spPr>
          <a:xfrm>
            <a:off x="822960" y="28803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problem 0 icon" descr="problem 0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30403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Existing problem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7490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Crop selection relies on experience and local practice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Soil nutrients and weather are rarely weighed together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Mistakes show up only after the season</a:t>
            </a:r>
            <a:endParaRPr lang="en-US" sz="1600" dirty="0"/>
          </a:p>
        </p:txBody>
      </p:sp>
      <p:sp>
        <p:nvSpPr>
          <p:cNvPr id="11" name="problem card 1"/>
          <p:cNvSpPr/>
          <p:nvPr/>
        </p:nvSpPr>
        <p:spPr>
          <a:xfrm>
            <a:off x="4334256" y="2651760"/>
            <a:ext cx="35204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problem 1 badge"/>
          <p:cNvSpPr/>
          <p:nvPr/>
        </p:nvSpPr>
        <p:spPr>
          <a:xfrm>
            <a:off x="4608576" y="2880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problem 1 icon" descr="problem 1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30403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85816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Limitations / challenges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608576" y="37490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Human judgement is subjective and inconsistent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Seven interacting factors are hard to weigh by hand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22 candidate crops make the choice complex</a:t>
            </a:r>
            <a:endParaRPr lang="en-US" sz="1600" dirty="0"/>
          </a:p>
        </p:txBody>
      </p:sp>
      <p:sp>
        <p:nvSpPr>
          <p:cNvPr id="16" name="problem card 2"/>
          <p:cNvSpPr/>
          <p:nvPr/>
        </p:nvSpPr>
        <p:spPr>
          <a:xfrm>
            <a:off x="8119872" y="2651760"/>
            <a:ext cx="35204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problem 2 badge"/>
          <p:cNvSpPr/>
          <p:nvPr/>
        </p:nvSpPr>
        <p:spPr>
          <a:xfrm>
            <a:off x="8394192" y="2880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problem 2 icon" descr="problem 2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212" y="304038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71432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Who is affected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8394192" y="37490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Farmers, especially small and first-time cultivators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Agricultural advisors and extension workers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Consumers, through lower yields and supply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Motivation</a:t>
            </a:r>
            <a:endParaRPr lang="en-US" sz="3600" dirty="0"/>
          </a:p>
        </p:txBody>
      </p:sp>
      <p:sp>
        <p:nvSpPr>
          <p:cNvPr id="4" name="motivation row 0"/>
          <p:cNvSpPr/>
          <p:nvPr/>
        </p:nvSpPr>
        <p:spPr>
          <a:xfrm>
            <a:off x="548640" y="1508760"/>
            <a:ext cx="110916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motivation 0 badge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otivation 0 icon" descr="motivation 0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98882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057400" y="167335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Why we selected this project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2057400" y="213055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Agriculture is a high-impact use of machine learning, and crop recommendation is a clean multi-class problem we could study end to end: data, EDA, model and evaluation.</a:t>
            </a:r>
            <a:endParaRPr lang="en-US" sz="1800" dirty="0"/>
          </a:p>
        </p:txBody>
      </p:sp>
      <p:sp>
        <p:nvSpPr>
          <p:cNvPr id="9" name="motivation row 1"/>
          <p:cNvSpPr/>
          <p:nvPr/>
        </p:nvSpPr>
        <p:spPr>
          <a:xfrm>
            <a:off x="548640" y="3063240"/>
            <a:ext cx="110916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motivation 1 badge"/>
          <p:cNvSpPr/>
          <p:nvPr/>
        </p:nvSpPr>
        <p:spPr>
          <a:xfrm>
            <a:off x="868680" y="33375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motivation 1 icon" descr="motivation 1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354330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057400" y="32278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Real-world need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2057400" y="36850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Farmers need a fast decision-support tool that uses soil nutrients (N, P, K, pH) and climate (temperature, humidity, rainfall) together instead of guesswork.</a:t>
            </a:r>
            <a:endParaRPr lang="en-US" sz="1800" dirty="0"/>
          </a:p>
        </p:txBody>
      </p:sp>
      <p:sp>
        <p:nvSpPr>
          <p:cNvPr id="14" name="motivation row 2"/>
          <p:cNvSpPr/>
          <p:nvPr/>
        </p:nvSpPr>
        <p:spPr>
          <a:xfrm>
            <a:off x="548640" y="4617720"/>
            <a:ext cx="110916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motivation 2 badge"/>
          <p:cNvSpPr/>
          <p:nvPr/>
        </p:nvSpPr>
        <p:spPr>
          <a:xfrm>
            <a:off x="868680" y="489204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motivation 2 icon" descr="motivation 2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50977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057400" y="478231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Research / industry motivation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2057400" y="523951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Precision and smart farming increasingly rely on data-driven recommendations. Logistic regression is a fast, interpretable baseline that also gives class probabilities.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Objectives</a:t>
            </a:r>
            <a:endParaRPr lang="en-US" sz="3600" dirty="0"/>
          </a:p>
        </p:txBody>
      </p:sp>
      <p:sp>
        <p:nvSpPr>
          <p:cNvPr id="4" name="main objective"/>
          <p:cNvSpPr/>
          <p:nvPr/>
        </p:nvSpPr>
        <p:spPr>
          <a:xfrm>
            <a:off x="548640" y="146304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OBJECTIVE   </a:t>
            </a:r>
            <a:r>
              <a:rPr lang="en-US" sz="1800" dirty="0">
                <a:solidFill>
                  <a:schemeClr val="bg1"/>
                </a:solidFill>
              </a:rPr>
              <a:t>Build a Multinomial Logistic Regression model that recommends the most suitable crop from seven soil and climate parameters with high accuracy.</a:t>
            </a:r>
            <a:endParaRPr lang="en-US" sz="1800" dirty="0"/>
          </a:p>
        </p:txBody>
      </p:sp>
      <p:sp>
        <p:nvSpPr>
          <p:cNvPr id="6" name="objective 1"/>
          <p:cNvSpPr/>
          <p:nvPr/>
        </p:nvSpPr>
        <p:spPr>
          <a:xfrm>
            <a:off x="548640" y="2880360"/>
            <a:ext cx="2075688" cy="320040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num 1"/>
          <p:cNvSpPr/>
          <p:nvPr/>
        </p:nvSpPr>
        <p:spPr>
          <a:xfrm>
            <a:off x="777240" y="31089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97764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Load, inspect and clean the crop dataset</a:t>
            </a:r>
            <a:endParaRPr lang="en-US" sz="1700" dirty="0"/>
          </a:p>
        </p:txBody>
      </p:sp>
      <p:sp>
        <p:nvSpPr>
          <p:cNvPr id="10" name="objective 2"/>
          <p:cNvSpPr/>
          <p:nvPr/>
        </p:nvSpPr>
        <p:spPr>
          <a:xfrm>
            <a:off x="2802636" y="2880360"/>
            <a:ext cx="2075688" cy="320040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num 2"/>
          <p:cNvSpPr/>
          <p:nvPr/>
        </p:nvSpPr>
        <p:spPr>
          <a:xfrm>
            <a:off x="3031236" y="31089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031236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3031236" y="397764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Explore the data with EDA to see crop-wise conditions</a:t>
            </a:r>
            <a:endParaRPr lang="en-US" sz="1700" dirty="0"/>
          </a:p>
        </p:txBody>
      </p:sp>
      <p:sp>
        <p:nvSpPr>
          <p:cNvPr id="14" name="objective 3"/>
          <p:cNvSpPr/>
          <p:nvPr/>
        </p:nvSpPr>
        <p:spPr>
          <a:xfrm>
            <a:off x="5056632" y="2880360"/>
            <a:ext cx="2075688" cy="320040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num 3"/>
          <p:cNvSpPr/>
          <p:nvPr/>
        </p:nvSpPr>
        <p:spPr>
          <a:xfrm>
            <a:off x="5285232" y="31089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285232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5285232" y="397764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Standardise features and make a stratified 80/20 split</a:t>
            </a:r>
            <a:endParaRPr lang="en-US" sz="1700" dirty="0"/>
          </a:p>
        </p:txBody>
      </p:sp>
      <p:sp>
        <p:nvSpPr>
          <p:cNvPr id="18" name="objective 4"/>
          <p:cNvSpPr/>
          <p:nvPr/>
        </p:nvSpPr>
        <p:spPr>
          <a:xfrm>
            <a:off x="7310628" y="2880360"/>
            <a:ext cx="2075688" cy="320040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num 4"/>
          <p:cNvSpPr/>
          <p:nvPr/>
        </p:nvSpPr>
        <p:spPr>
          <a:xfrm>
            <a:off x="7539228" y="31089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539228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7539228" y="397764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Train the model and tune C by 5-fold cross-validation</a:t>
            </a:r>
            <a:endParaRPr lang="en-US" sz="1700" dirty="0"/>
          </a:p>
        </p:txBody>
      </p:sp>
      <p:sp>
        <p:nvSpPr>
          <p:cNvPr id="22" name="objective 5"/>
          <p:cNvSpPr/>
          <p:nvPr/>
        </p:nvSpPr>
        <p:spPr>
          <a:xfrm>
            <a:off x="9564624" y="2880360"/>
            <a:ext cx="2075688" cy="320040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num 5"/>
          <p:cNvSpPr/>
          <p:nvPr/>
        </p:nvSpPr>
        <p:spPr>
          <a:xfrm>
            <a:off x="9793224" y="31089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793224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5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9793224" y="397764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Evaluate with accuracy, precision, recall, F1 and confusion matrix</a:t>
            </a:r>
            <a:endParaRPr lang="en-US" sz="17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Existing System</a:t>
            </a:r>
            <a:endParaRPr lang="en-US" sz="3600" dirty="0"/>
          </a:p>
        </p:txBody>
      </p:sp>
      <p:sp>
        <p:nvSpPr>
          <p:cNvPr id="4" name="existing step 0"/>
          <p:cNvSpPr/>
          <p:nvPr/>
        </p:nvSpPr>
        <p:spPr>
          <a:xfrm>
            <a:off x="548640" y="1463040"/>
            <a:ext cx="31089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existing 0 badge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existing 0 icon" descr="existing 0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931670"/>
            <a:ext cx="297180" cy="2971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4630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Farmer experience &amp; local practice</a:t>
            </a:r>
            <a:endParaRPr lang="en-US" sz="1600" dirty="0"/>
          </a:p>
        </p:txBody>
      </p:sp>
      <p:sp>
        <p:nvSpPr>
          <p:cNvPr id="8" name="arrow"/>
          <p:cNvSpPr/>
          <p:nvPr/>
        </p:nvSpPr>
        <p:spPr>
          <a:xfrm>
            <a:off x="3749040" y="1938528"/>
            <a:ext cx="64008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existing step 1"/>
          <p:cNvSpPr/>
          <p:nvPr/>
        </p:nvSpPr>
        <p:spPr>
          <a:xfrm>
            <a:off x="4544568" y="1463040"/>
            <a:ext cx="31089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existing 1 badge"/>
          <p:cNvSpPr/>
          <p:nvPr/>
        </p:nvSpPr>
        <p:spPr>
          <a:xfrm>
            <a:off x="4773168" y="178308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existing 1 icon" descr="existing 1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758" y="193167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550408" y="14630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Rough weather / soil-test check</a:t>
            </a:r>
            <a:endParaRPr lang="en-US" sz="1600" dirty="0"/>
          </a:p>
        </p:txBody>
      </p:sp>
      <p:sp>
        <p:nvSpPr>
          <p:cNvPr id="13" name="arrow"/>
          <p:cNvSpPr/>
          <p:nvPr/>
        </p:nvSpPr>
        <p:spPr>
          <a:xfrm>
            <a:off x="7744968" y="1938528"/>
            <a:ext cx="64008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4" name="existing step 2"/>
          <p:cNvSpPr/>
          <p:nvPr/>
        </p:nvSpPr>
        <p:spPr>
          <a:xfrm>
            <a:off x="8540496" y="1463040"/>
            <a:ext cx="31089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existing 2 badge"/>
          <p:cNvSpPr/>
          <p:nvPr/>
        </p:nvSpPr>
        <p:spPr>
          <a:xfrm>
            <a:off x="8769096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existing 2 icon" descr="existing 2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7686" y="193167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546336" y="14630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Crop decision</a:t>
            </a:r>
            <a:endParaRPr lang="en-US" sz="1600" dirty="0"/>
          </a:p>
        </p:txBody>
      </p:sp>
      <p:sp>
        <p:nvSpPr>
          <p:cNvPr id="18" name="existing technologies"/>
          <p:cNvSpPr/>
          <p:nvPr/>
        </p:nvSpPr>
        <p:spPr>
          <a:xfrm>
            <a:off x="548640" y="3017520"/>
            <a:ext cx="544068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822960" y="3200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Current approach / technologies</a:t>
            </a:r>
            <a:endParaRPr lang="en-US" sz="2200" dirty="0"/>
          </a:p>
        </p:txBody>
      </p:sp>
      <p:sp>
        <p:nvSpPr>
          <p:cNvPr id="20" name="Text 14"/>
          <p:cNvSpPr txBox="1"/>
          <p:nvPr/>
        </p:nvSpPr>
        <p:spPr>
          <a:xfrm>
            <a:off x="822960" y="37947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Decisions from farmer experience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Local practice and neighbours’ choices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Crop calendars and rules of thumb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Manual soil testing and advisory visits</a:t>
            </a:r>
            <a:endParaRPr lang="en-US" sz="1800" dirty="0"/>
          </a:p>
        </p:txBody>
      </p:sp>
      <p:sp>
        <p:nvSpPr>
          <p:cNvPr id="21" name="existing limitations"/>
          <p:cNvSpPr/>
          <p:nvPr/>
        </p:nvSpPr>
        <p:spPr>
          <a:xfrm>
            <a:off x="6199632" y="3017520"/>
            <a:ext cx="544068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6473952" y="3200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Limitations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6473952" y="37947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Subjective and inconsistent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Does not combine all seven factors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probability or confidence in the advice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Slow and not easily available to every farmer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Proposed System</a:t>
            </a:r>
            <a:endParaRPr lang="en-US" sz="3600" dirty="0"/>
          </a:p>
        </p:txBody>
      </p:sp>
      <p:sp>
        <p:nvSpPr>
          <p:cNvPr id="4" name="proposed solution"/>
          <p:cNvSpPr/>
          <p:nvPr/>
        </p:nvSpPr>
        <p:spPr>
          <a:xfrm>
            <a:off x="548640" y="1463040"/>
            <a:ext cx="4480560" cy="461772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/>
        </p:spPr>
      </p:sp>
      <p:sp>
        <p:nvSpPr>
          <p:cNvPr id="5" name="solution badg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solution icon" descr="solutio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1977390"/>
            <a:ext cx="388620" cy="3886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874520" y="1783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Our solution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28346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Multinomial Logistic Regression crop recommender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Inputs: N, P, K, temperature, humidity, pH, rainfall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Features standardised, model tuned by cross-validation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Output: recommended crop and probability for each crop</a:t>
            </a:r>
            <a:endParaRPr lang="en-US" sz="1800" dirty="0"/>
          </a:p>
        </p:txBody>
      </p:sp>
      <p:sp>
        <p:nvSpPr>
          <p:cNvPr id="9" name="problem 0"/>
          <p:cNvSpPr/>
          <p:nvPr/>
        </p:nvSpPr>
        <p:spPr>
          <a:xfrm>
            <a:off x="5303520" y="146304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F6E3D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440680" y="14630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Subjective decisions</a:t>
            </a:r>
            <a:endParaRPr lang="en-US" sz="1700" dirty="0"/>
          </a:p>
        </p:txBody>
      </p:sp>
      <p:sp>
        <p:nvSpPr>
          <p:cNvPr id="11" name="arrow"/>
          <p:cNvSpPr/>
          <p:nvPr/>
        </p:nvSpPr>
        <p:spPr>
          <a:xfrm>
            <a:off x="7882128" y="1783080"/>
            <a:ext cx="36576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2" name="answer 0"/>
          <p:cNvSpPr/>
          <p:nvPr/>
        </p:nvSpPr>
        <p:spPr>
          <a:xfrm>
            <a:off x="8321040" y="1463040"/>
            <a:ext cx="3319272" cy="1005840"/>
          </a:xfrm>
          <a:prstGeom prst="roundRect">
            <a:avLst>
              <a:gd name="adj" fmla="val 10909"/>
            </a:avLst>
          </a:prstGeom>
          <a:solidFill>
            <a:srgbClr val="DCEBE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458200" y="1463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Learns from 2,200 labelled records</a:t>
            </a:r>
            <a:endParaRPr lang="en-US" sz="1700" dirty="0"/>
          </a:p>
        </p:txBody>
      </p:sp>
      <p:sp>
        <p:nvSpPr>
          <p:cNvPr id="14" name="problem 1"/>
          <p:cNvSpPr/>
          <p:nvPr/>
        </p:nvSpPr>
        <p:spPr>
          <a:xfrm>
            <a:off x="5303520" y="2633472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F6E3D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5440680" y="263347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Factors weighed separately</a:t>
            </a:r>
            <a:endParaRPr lang="en-US" sz="1700" dirty="0"/>
          </a:p>
        </p:txBody>
      </p:sp>
      <p:sp>
        <p:nvSpPr>
          <p:cNvPr id="16" name="arrow"/>
          <p:cNvSpPr/>
          <p:nvPr/>
        </p:nvSpPr>
        <p:spPr>
          <a:xfrm>
            <a:off x="7882128" y="2953512"/>
            <a:ext cx="36576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7" name="answer 1"/>
          <p:cNvSpPr/>
          <p:nvPr/>
        </p:nvSpPr>
        <p:spPr>
          <a:xfrm>
            <a:off x="8321040" y="2633472"/>
            <a:ext cx="3319272" cy="1005840"/>
          </a:xfrm>
          <a:prstGeom prst="roundRect">
            <a:avLst>
              <a:gd name="adj" fmla="val 10909"/>
            </a:avLst>
          </a:prstGeom>
          <a:solidFill>
            <a:srgbClr val="DCEBE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8458200" y="263347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Uses all 7 factors together in one model</a:t>
            </a:r>
            <a:endParaRPr lang="en-US" sz="1700" dirty="0"/>
          </a:p>
        </p:txBody>
      </p:sp>
      <p:sp>
        <p:nvSpPr>
          <p:cNvPr id="19" name="problem 2"/>
          <p:cNvSpPr/>
          <p:nvPr/>
        </p:nvSpPr>
        <p:spPr>
          <a:xfrm>
            <a:off x="5303520" y="3803904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F6E3D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5440680" y="3803904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confidence information</a:t>
            </a:r>
            <a:endParaRPr lang="en-US" sz="1700" dirty="0"/>
          </a:p>
        </p:txBody>
      </p:sp>
      <p:sp>
        <p:nvSpPr>
          <p:cNvPr id="21" name="arrow"/>
          <p:cNvSpPr/>
          <p:nvPr/>
        </p:nvSpPr>
        <p:spPr>
          <a:xfrm>
            <a:off x="7882128" y="4123944"/>
            <a:ext cx="36576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2" name="answer 2"/>
          <p:cNvSpPr/>
          <p:nvPr/>
        </p:nvSpPr>
        <p:spPr>
          <a:xfrm>
            <a:off x="8321040" y="3803904"/>
            <a:ext cx="3319272" cy="1005840"/>
          </a:xfrm>
          <a:prstGeom prst="roundRect">
            <a:avLst>
              <a:gd name="adj" fmla="val 10909"/>
            </a:avLst>
          </a:prstGeom>
          <a:solidFill>
            <a:srgbClr val="DCEBE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8458200" y="3803904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Returns a probability for each crop</a:t>
            </a:r>
            <a:endParaRPr lang="en-US" sz="1700" dirty="0"/>
          </a:p>
        </p:txBody>
      </p:sp>
      <p:sp>
        <p:nvSpPr>
          <p:cNvPr id="24" name="problem 3"/>
          <p:cNvSpPr/>
          <p:nvPr/>
        </p:nvSpPr>
        <p:spPr>
          <a:xfrm>
            <a:off x="5303520" y="4974336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F6E3D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5440680" y="4974336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Slow, manual advice</a:t>
            </a:r>
            <a:endParaRPr lang="en-US" sz="1700" dirty="0"/>
          </a:p>
        </p:txBody>
      </p:sp>
      <p:sp>
        <p:nvSpPr>
          <p:cNvPr id="26" name="arrow"/>
          <p:cNvSpPr/>
          <p:nvPr/>
        </p:nvSpPr>
        <p:spPr>
          <a:xfrm>
            <a:off x="7882128" y="5294376"/>
            <a:ext cx="36576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7" name="answer 3"/>
          <p:cNvSpPr/>
          <p:nvPr/>
        </p:nvSpPr>
        <p:spPr>
          <a:xfrm>
            <a:off x="8321040" y="4974336"/>
            <a:ext cx="3319272" cy="1005840"/>
          </a:xfrm>
          <a:prstGeom prst="roundRect">
            <a:avLst>
              <a:gd name="adj" fmla="val 10909"/>
            </a:avLst>
          </a:prstGeom>
          <a:solidFill>
            <a:srgbClr val="DCEBE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8458200" y="4974336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Trains in under a second; instant prediction</a:t>
            </a:r>
            <a:endParaRPr lang="en-US" sz="17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4" name="arch header 0"/>
          <p:cNvSpPr/>
          <p:nvPr/>
        </p:nvSpPr>
        <p:spPr>
          <a:xfrm>
            <a:off x="548640" y="1554480"/>
            <a:ext cx="2514600" cy="640080"/>
          </a:xfrm>
          <a:prstGeom prst="roundRect">
            <a:avLst>
              <a:gd name="adj" fmla="val 17143"/>
            </a:avLst>
          </a:prstGeom>
          <a:solidFill>
            <a:schemeClr val="accent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554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INPUT</a:t>
            </a:r>
            <a:endParaRPr lang="en-US" sz="2000" dirty="0"/>
          </a:p>
        </p:txBody>
      </p:sp>
      <p:sp>
        <p:nvSpPr>
          <p:cNvPr id="6" name="arch body 0"/>
          <p:cNvSpPr/>
          <p:nvPr/>
        </p:nvSpPr>
        <p:spPr>
          <a:xfrm>
            <a:off x="548640" y="2377440"/>
            <a:ext cx="2514600" cy="3657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2606040"/>
            <a:ext cx="2148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Soil: N, P, K, pH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Climate: temperature, humidity, rainfall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Crop dataset (CSV, 2,200 records)</a:t>
            </a:r>
            <a:endParaRPr lang="en-US" sz="1700" dirty="0"/>
          </a:p>
        </p:txBody>
      </p:sp>
      <p:sp>
        <p:nvSpPr>
          <p:cNvPr id="8" name="arrow"/>
          <p:cNvSpPr/>
          <p:nvPr/>
        </p:nvSpPr>
        <p:spPr>
          <a:xfrm>
            <a:off x="3090672" y="3611880"/>
            <a:ext cx="274320" cy="41148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arch header 1"/>
          <p:cNvSpPr/>
          <p:nvPr/>
        </p:nvSpPr>
        <p:spPr>
          <a:xfrm>
            <a:off x="3407969" y="1554480"/>
            <a:ext cx="2514600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407969" y="1554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PROCESSING</a:t>
            </a:r>
            <a:endParaRPr lang="en-US" sz="2000" dirty="0"/>
          </a:p>
        </p:txBody>
      </p:sp>
      <p:sp>
        <p:nvSpPr>
          <p:cNvPr id="11" name="arch body 1"/>
          <p:cNvSpPr/>
          <p:nvPr/>
        </p:nvSpPr>
        <p:spPr>
          <a:xfrm>
            <a:off x="3407969" y="2377440"/>
            <a:ext cx="2514600" cy="3657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590849" y="2606040"/>
            <a:ext cx="2148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Data inspection and cleaning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Standardisation (StandardScaler)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Stratified 80/20 train-test split</a:t>
            </a:r>
            <a:endParaRPr lang="en-US" sz="1700" dirty="0"/>
          </a:p>
        </p:txBody>
      </p:sp>
      <p:sp>
        <p:nvSpPr>
          <p:cNvPr id="13" name="arrow"/>
          <p:cNvSpPr/>
          <p:nvPr/>
        </p:nvSpPr>
        <p:spPr>
          <a:xfrm>
            <a:off x="5950001" y="3611880"/>
            <a:ext cx="274320" cy="41148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4" name="arch header 2"/>
          <p:cNvSpPr/>
          <p:nvPr/>
        </p:nvSpPr>
        <p:spPr>
          <a:xfrm>
            <a:off x="6267298" y="1554480"/>
            <a:ext cx="251460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67298" y="1554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MODEL</a:t>
            </a:r>
            <a:endParaRPr lang="en-US" sz="2000" dirty="0"/>
          </a:p>
        </p:txBody>
      </p:sp>
      <p:sp>
        <p:nvSpPr>
          <p:cNvPr id="16" name="arch body 2"/>
          <p:cNvSpPr/>
          <p:nvPr/>
        </p:nvSpPr>
        <p:spPr>
          <a:xfrm>
            <a:off x="6267298" y="2377440"/>
            <a:ext cx="2514600" cy="3657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450178" y="2606040"/>
            <a:ext cx="2148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Multinomial Logistic Regression (softmax, L2)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 tuned by 5-fold CV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Best C = 100</a:t>
            </a:r>
            <a:endParaRPr lang="en-US" sz="1700" dirty="0"/>
          </a:p>
        </p:txBody>
      </p:sp>
      <p:sp>
        <p:nvSpPr>
          <p:cNvPr id="18" name="arrow"/>
          <p:cNvSpPr/>
          <p:nvPr/>
        </p:nvSpPr>
        <p:spPr>
          <a:xfrm>
            <a:off x="8809330" y="3611880"/>
            <a:ext cx="274320" cy="41148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9" name="arch header 3"/>
          <p:cNvSpPr/>
          <p:nvPr/>
        </p:nvSpPr>
        <p:spPr>
          <a:xfrm>
            <a:off x="9126626" y="1554480"/>
            <a:ext cx="251460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26626" y="1554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OUTPUT</a:t>
            </a:r>
            <a:endParaRPr lang="en-US" sz="2000" dirty="0"/>
          </a:p>
        </p:txBody>
      </p:sp>
      <p:sp>
        <p:nvSpPr>
          <p:cNvPr id="21" name="arch body 3"/>
          <p:cNvSpPr/>
          <p:nvPr/>
        </p:nvSpPr>
        <p:spPr>
          <a:xfrm>
            <a:off x="9126626" y="2377440"/>
            <a:ext cx="2514600" cy="3657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9309506" y="2606040"/>
            <a:ext cx="2148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Recommended crop (1 of 22)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Probability for each crop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Accuracy, precision, recall, F1, confusion matrix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Methodology / Workflow</a:t>
            </a:r>
            <a:endParaRPr lang="en-US" sz="3600" dirty="0"/>
          </a:p>
        </p:txBody>
      </p:sp>
      <p:sp>
        <p:nvSpPr>
          <p:cNvPr id="4" name="step 1"/>
          <p:cNvSpPr/>
          <p:nvPr/>
        </p:nvSpPr>
        <p:spPr>
          <a:xfrm>
            <a:off x="548640" y="1554480"/>
            <a:ext cx="251460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tep num 1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Collect data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26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Load the crop CSV with Pandas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3090672" y="2377440"/>
            <a:ext cx="274320" cy="41148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0" name="step 2"/>
          <p:cNvSpPr/>
          <p:nvPr/>
        </p:nvSpPr>
        <p:spPr>
          <a:xfrm>
            <a:off x="3407969" y="1554480"/>
            <a:ext cx="251460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tep num 2"/>
          <p:cNvSpPr/>
          <p:nvPr/>
        </p:nvSpPr>
        <p:spPr>
          <a:xfrm>
            <a:off x="3636569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636569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636569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Inspect &amp; clean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3636569" y="2926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Shape, types, nulls, duplicates</a:t>
            </a:r>
            <a:endParaRPr lang="en-US" sz="1600" dirty="0"/>
          </a:p>
        </p:txBody>
      </p:sp>
      <p:sp>
        <p:nvSpPr>
          <p:cNvPr id="15" name="arrow"/>
          <p:cNvSpPr/>
          <p:nvPr/>
        </p:nvSpPr>
        <p:spPr>
          <a:xfrm>
            <a:off x="5950001" y="2377440"/>
            <a:ext cx="274320" cy="41148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6" name="step 3"/>
          <p:cNvSpPr/>
          <p:nvPr/>
        </p:nvSpPr>
        <p:spPr>
          <a:xfrm>
            <a:off x="6267298" y="1554480"/>
            <a:ext cx="251460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tep num 3"/>
          <p:cNvSpPr/>
          <p:nvPr/>
        </p:nvSpPr>
        <p:spPr>
          <a:xfrm>
            <a:off x="6495898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95898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95898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Explore (EDA)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495898" y="2926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Distributions, heatmap, box plots</a:t>
            </a:r>
            <a:endParaRPr lang="en-US" sz="1600" dirty="0"/>
          </a:p>
        </p:txBody>
      </p:sp>
      <p:sp>
        <p:nvSpPr>
          <p:cNvPr id="21" name="arrow"/>
          <p:cNvSpPr/>
          <p:nvPr/>
        </p:nvSpPr>
        <p:spPr>
          <a:xfrm>
            <a:off x="8809330" y="2377440"/>
            <a:ext cx="274320" cy="41148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2" name="step 4"/>
          <p:cNvSpPr/>
          <p:nvPr/>
        </p:nvSpPr>
        <p:spPr>
          <a:xfrm>
            <a:off x="9126626" y="1554480"/>
            <a:ext cx="251460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tep num 4"/>
          <p:cNvSpPr/>
          <p:nvPr/>
        </p:nvSpPr>
        <p:spPr>
          <a:xfrm>
            <a:off x="9355226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355226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9355226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Standardise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9355226" y="2926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Zero mean, unit variance</a:t>
            </a:r>
            <a:endParaRPr lang="en-US" sz="1600" dirty="0"/>
          </a:p>
        </p:txBody>
      </p:sp>
      <p:sp>
        <p:nvSpPr>
          <p:cNvPr id="27" name="step 5"/>
          <p:cNvSpPr/>
          <p:nvPr/>
        </p:nvSpPr>
        <p:spPr>
          <a:xfrm>
            <a:off x="548640" y="3931920"/>
            <a:ext cx="251460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tep num 5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7724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4892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Split data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5303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Stratified 80/20 split</a:t>
            </a:r>
            <a:endParaRPr lang="en-US" sz="1600" dirty="0"/>
          </a:p>
        </p:txBody>
      </p:sp>
      <p:sp>
        <p:nvSpPr>
          <p:cNvPr id="32" name="arrow"/>
          <p:cNvSpPr/>
          <p:nvPr/>
        </p:nvSpPr>
        <p:spPr>
          <a:xfrm>
            <a:off x="3090672" y="4754880"/>
            <a:ext cx="274320" cy="41148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3" name="step 6"/>
          <p:cNvSpPr/>
          <p:nvPr/>
        </p:nvSpPr>
        <p:spPr>
          <a:xfrm>
            <a:off x="3407969" y="3931920"/>
            <a:ext cx="251460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tep num 6"/>
          <p:cNvSpPr/>
          <p:nvPr/>
        </p:nvSpPr>
        <p:spPr>
          <a:xfrm>
            <a:off x="3636569" y="416052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3636569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3636569" y="4892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Train model</a:t>
            </a:r>
            <a:endParaRPr lang="en-US" sz="1900" dirty="0"/>
          </a:p>
        </p:txBody>
      </p:sp>
      <p:sp>
        <p:nvSpPr>
          <p:cNvPr id="37" name="Text 34"/>
          <p:cNvSpPr txBox="1"/>
          <p:nvPr/>
        </p:nvSpPr>
        <p:spPr>
          <a:xfrm>
            <a:off x="3636569" y="5303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Multinomial Logistic Regression</a:t>
            </a:r>
            <a:endParaRPr lang="en-US" sz="1600" dirty="0"/>
          </a:p>
        </p:txBody>
      </p:sp>
      <p:sp>
        <p:nvSpPr>
          <p:cNvPr id="38" name="arrow"/>
          <p:cNvSpPr/>
          <p:nvPr/>
        </p:nvSpPr>
        <p:spPr>
          <a:xfrm>
            <a:off x="5950001" y="4754880"/>
            <a:ext cx="274320" cy="41148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9" name="step 7"/>
          <p:cNvSpPr/>
          <p:nvPr/>
        </p:nvSpPr>
        <p:spPr>
          <a:xfrm>
            <a:off x="6267298" y="3931920"/>
            <a:ext cx="251460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tep num 7"/>
          <p:cNvSpPr/>
          <p:nvPr/>
        </p:nvSpPr>
        <p:spPr>
          <a:xfrm>
            <a:off x="6495898" y="416052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495898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7</a:t>
            </a:r>
            <a:endParaRPr lang="en-US" sz="2200" dirty="0"/>
          </a:p>
        </p:txBody>
      </p:sp>
      <p:sp>
        <p:nvSpPr>
          <p:cNvPr id="42" name="Text 39"/>
          <p:cNvSpPr txBox="1"/>
          <p:nvPr/>
        </p:nvSpPr>
        <p:spPr>
          <a:xfrm>
            <a:off x="6495898" y="4892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Tune C</a:t>
            </a:r>
            <a:endParaRPr lang="en-US" sz="1900" dirty="0"/>
          </a:p>
        </p:txBody>
      </p:sp>
      <p:sp>
        <p:nvSpPr>
          <p:cNvPr id="43" name="Text 40"/>
          <p:cNvSpPr txBox="1"/>
          <p:nvPr/>
        </p:nvSpPr>
        <p:spPr>
          <a:xfrm>
            <a:off x="6495898" y="5303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5-fold cross-validation</a:t>
            </a:r>
            <a:endParaRPr lang="en-US" sz="1600" dirty="0"/>
          </a:p>
        </p:txBody>
      </p:sp>
      <p:sp>
        <p:nvSpPr>
          <p:cNvPr id="44" name="arrow"/>
          <p:cNvSpPr/>
          <p:nvPr/>
        </p:nvSpPr>
        <p:spPr>
          <a:xfrm>
            <a:off x="8809330" y="4754880"/>
            <a:ext cx="274320" cy="41148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45" name="step 8"/>
          <p:cNvSpPr/>
          <p:nvPr/>
        </p:nvSpPr>
        <p:spPr>
          <a:xfrm>
            <a:off x="9126626" y="3931920"/>
            <a:ext cx="251460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tep num 8"/>
          <p:cNvSpPr/>
          <p:nvPr/>
        </p:nvSpPr>
        <p:spPr>
          <a:xfrm>
            <a:off x="9355226" y="416052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9355226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8</a:t>
            </a:r>
            <a:endParaRPr lang="en-US" sz="2200" dirty="0"/>
          </a:p>
        </p:txBody>
      </p:sp>
      <p:sp>
        <p:nvSpPr>
          <p:cNvPr id="48" name="Text 45"/>
          <p:cNvSpPr txBox="1"/>
          <p:nvPr/>
        </p:nvSpPr>
        <p:spPr>
          <a:xfrm>
            <a:off x="9355226" y="4892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Evaluate</a:t>
            </a:r>
            <a:endParaRPr lang="en-US" sz="1900" dirty="0"/>
          </a:p>
        </p:txBody>
      </p:sp>
      <p:sp>
        <p:nvSpPr>
          <p:cNvPr id="49" name="Text 46"/>
          <p:cNvSpPr txBox="1"/>
          <p:nvPr/>
        </p:nvSpPr>
        <p:spPr>
          <a:xfrm>
            <a:off x="9355226" y="5303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Metrics, matrix, new prediction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4" name="tech 0"/>
          <p:cNvSpPr/>
          <p:nvPr/>
        </p:nvSpPr>
        <p:spPr>
          <a:xfrm>
            <a:off x="548640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ch 0 badge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tech 0 icon" descr="tech 0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1783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Programming language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Python 3.x</a:t>
            </a:r>
            <a:endParaRPr lang="en-US" sz="1800" dirty="0"/>
          </a:p>
        </p:txBody>
      </p:sp>
      <p:sp>
        <p:nvSpPr>
          <p:cNvPr id="9" name="tech 1"/>
          <p:cNvSpPr/>
          <p:nvPr/>
        </p:nvSpPr>
        <p:spPr>
          <a:xfrm>
            <a:off x="4334256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ch 1 badge"/>
          <p:cNvSpPr/>
          <p:nvPr/>
        </p:nvSpPr>
        <p:spPr>
          <a:xfrm>
            <a:off x="4608576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tech 1 icon" descr="tech 1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026" y="1954530"/>
            <a:ext cx="342900" cy="342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77256" y="1783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IDE / environment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608576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VS Code, Jupyter Notebook, Google Colab</a:t>
            </a:r>
            <a:endParaRPr lang="en-US" sz="1800" dirty="0"/>
          </a:p>
        </p:txBody>
      </p:sp>
      <p:sp>
        <p:nvSpPr>
          <p:cNvPr id="14" name="tech 2"/>
          <p:cNvSpPr/>
          <p:nvPr/>
        </p:nvSpPr>
        <p:spPr>
          <a:xfrm>
            <a:off x="8119872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ch 2 badge"/>
          <p:cNvSpPr/>
          <p:nvPr/>
        </p:nvSpPr>
        <p:spPr>
          <a:xfrm>
            <a:off x="8394192" y="178308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tech 2 icon" descr="tech 2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5642" y="195453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62872" y="1783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Framework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8394192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Scikit-learn (Pipeline, GridSearchCV)</a:t>
            </a:r>
            <a:endParaRPr lang="en-US" sz="1800" dirty="0"/>
          </a:p>
        </p:txBody>
      </p:sp>
      <p:sp>
        <p:nvSpPr>
          <p:cNvPr id="19" name="tech 3"/>
          <p:cNvSpPr/>
          <p:nvPr/>
        </p:nvSpPr>
        <p:spPr>
          <a:xfrm>
            <a:off x="548640" y="38862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ch 3 badg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tech 3 icon" descr="tech 3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410" y="4331970"/>
            <a:ext cx="342900" cy="3429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91640" y="4160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Libraries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5074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NumPy, Pandas, Matplotlib, Seaborn</a:t>
            </a:r>
            <a:endParaRPr lang="en-US" sz="1800" dirty="0"/>
          </a:p>
        </p:txBody>
      </p:sp>
      <p:sp>
        <p:nvSpPr>
          <p:cNvPr id="24" name="tech 4"/>
          <p:cNvSpPr/>
          <p:nvPr/>
        </p:nvSpPr>
        <p:spPr>
          <a:xfrm>
            <a:off x="4334256" y="38862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ch 4 badge"/>
          <p:cNvSpPr/>
          <p:nvPr/>
        </p:nvSpPr>
        <p:spPr>
          <a:xfrm>
            <a:off x="4608576" y="416052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tech 4 icon" descr="tech 4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0026" y="4331970"/>
            <a:ext cx="342900" cy="3429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477256" y="4160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Database / data</a:t>
            </a:r>
            <a:endParaRPr lang="en-US" sz="2000" dirty="0"/>
          </a:p>
        </p:txBody>
      </p:sp>
      <p:sp>
        <p:nvSpPr>
          <p:cNvPr id="28" name="Text 20"/>
          <p:cNvSpPr txBox="1"/>
          <p:nvPr/>
        </p:nvSpPr>
        <p:spPr>
          <a:xfrm>
            <a:off x="4608576" y="5074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CSV dataset (MySQL optional)</a:t>
            </a:r>
            <a:endParaRPr lang="en-US" sz="1800" dirty="0"/>
          </a:p>
        </p:txBody>
      </p:sp>
      <p:sp>
        <p:nvSpPr>
          <p:cNvPr id="29" name="tech 5"/>
          <p:cNvSpPr/>
          <p:nvPr/>
        </p:nvSpPr>
        <p:spPr>
          <a:xfrm>
            <a:off x="8119872" y="38862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ch 5 badge"/>
          <p:cNvSpPr/>
          <p:nvPr/>
        </p:nvSpPr>
        <p:spPr>
          <a:xfrm>
            <a:off x="8394192" y="416052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1" name="tech 5 icon" descr="tech 5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5642" y="4331970"/>
            <a:ext cx="342900" cy="3429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262872" y="4160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Hardware &amp; OS</a:t>
            </a:r>
            <a:endParaRPr lang="en-US" sz="2000" dirty="0"/>
          </a:p>
        </p:txBody>
      </p:sp>
      <p:sp>
        <p:nvSpPr>
          <p:cNvPr id="33" name="Text 24"/>
          <p:cNvSpPr txBox="1"/>
          <p:nvPr/>
        </p:nvSpPr>
        <p:spPr>
          <a:xfrm>
            <a:off x="8394192" y="5074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Intel Core i5+, 8 GB RAM, 10 GB storage; Windows, Linux, macOS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System Modules / Components</a:t>
            </a:r>
            <a:endParaRPr lang="en-US" sz="3600" dirty="0"/>
          </a:p>
        </p:txBody>
      </p:sp>
      <p:sp>
        <p:nvSpPr>
          <p:cNvPr id="4" name="module 0"/>
          <p:cNvSpPr/>
          <p:nvPr/>
        </p:nvSpPr>
        <p:spPr>
          <a:xfrm>
            <a:off x="548640" y="1508760"/>
            <a:ext cx="25146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module 0 badge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odule 0 icon" descr="module 0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Data Collection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0449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Load CSV with Pandas</a:t>
            </a:r>
            <a:endParaRPr lang="en-US" sz="1600" dirty="0"/>
          </a:p>
        </p:txBody>
      </p:sp>
      <p:sp>
        <p:nvSpPr>
          <p:cNvPr id="9" name="module 1"/>
          <p:cNvSpPr/>
          <p:nvPr/>
        </p:nvSpPr>
        <p:spPr>
          <a:xfrm>
            <a:off x="3407969" y="1508760"/>
            <a:ext cx="25146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module 1 badge"/>
          <p:cNvSpPr/>
          <p:nvPr/>
        </p:nvSpPr>
        <p:spPr>
          <a:xfrm>
            <a:off x="3682289" y="17830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module 1 icon" descr="module 1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309" y="194310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82289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Data Preprocessing</a:t>
            </a:r>
            <a:endParaRPr lang="en-US" sz="1900" dirty="0"/>
          </a:p>
        </p:txBody>
      </p:sp>
      <p:sp>
        <p:nvSpPr>
          <p:cNvPr id="13" name="Text 8"/>
          <p:cNvSpPr txBox="1"/>
          <p:nvPr/>
        </p:nvSpPr>
        <p:spPr>
          <a:xfrm>
            <a:off x="3682289" y="30449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Inspection, scaling, split</a:t>
            </a:r>
            <a:endParaRPr lang="en-US" sz="1600" dirty="0"/>
          </a:p>
        </p:txBody>
      </p:sp>
      <p:sp>
        <p:nvSpPr>
          <p:cNvPr id="14" name="module 2"/>
          <p:cNvSpPr/>
          <p:nvPr/>
        </p:nvSpPr>
        <p:spPr>
          <a:xfrm>
            <a:off x="6267298" y="1508760"/>
            <a:ext cx="25146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module 2 badge"/>
          <p:cNvSpPr/>
          <p:nvPr/>
        </p:nvSpPr>
        <p:spPr>
          <a:xfrm>
            <a:off x="6541618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module 2 icon" descr="module 2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1638" y="194310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541618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EDA &amp; Visualisation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6541618" y="30449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Histograms, heatmap, box plots</a:t>
            </a:r>
            <a:endParaRPr lang="en-US" sz="1600" dirty="0"/>
          </a:p>
        </p:txBody>
      </p:sp>
      <p:sp>
        <p:nvSpPr>
          <p:cNvPr id="19" name="module 3"/>
          <p:cNvSpPr/>
          <p:nvPr/>
        </p:nvSpPr>
        <p:spPr>
          <a:xfrm>
            <a:off x="9126626" y="1508760"/>
            <a:ext cx="25146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module 3 badge"/>
          <p:cNvSpPr/>
          <p:nvPr/>
        </p:nvSpPr>
        <p:spPr>
          <a:xfrm>
            <a:off x="9400946" y="17830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module 3 icon" descr="module 3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0966" y="194310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400946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ML Module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9400946" y="30449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Multinomial LR in a Pipeline</a:t>
            </a:r>
            <a:endParaRPr lang="en-US" sz="1600" dirty="0"/>
          </a:p>
        </p:txBody>
      </p:sp>
      <p:sp>
        <p:nvSpPr>
          <p:cNvPr id="24" name="module 4"/>
          <p:cNvSpPr/>
          <p:nvPr/>
        </p:nvSpPr>
        <p:spPr>
          <a:xfrm>
            <a:off x="548640" y="3886200"/>
            <a:ext cx="25146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module 4 badge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module 4 icon" descr="module 4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" y="432054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22960" y="4983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Tuning</a:t>
            </a:r>
            <a:endParaRPr lang="en-US" sz="1900" dirty="0"/>
          </a:p>
        </p:txBody>
      </p:sp>
      <p:sp>
        <p:nvSpPr>
          <p:cNvPr id="28" name="Text 20"/>
          <p:cNvSpPr txBox="1"/>
          <p:nvPr/>
        </p:nvSpPr>
        <p:spPr>
          <a:xfrm>
            <a:off x="822960" y="54223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GridSearchCV, 5-fold</a:t>
            </a:r>
            <a:endParaRPr lang="en-US" sz="1600" dirty="0"/>
          </a:p>
        </p:txBody>
      </p:sp>
      <p:sp>
        <p:nvSpPr>
          <p:cNvPr id="29" name="module 5"/>
          <p:cNvSpPr/>
          <p:nvPr/>
        </p:nvSpPr>
        <p:spPr>
          <a:xfrm>
            <a:off x="3407969" y="3886200"/>
            <a:ext cx="25146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module 5 badge"/>
          <p:cNvSpPr/>
          <p:nvPr/>
        </p:nvSpPr>
        <p:spPr>
          <a:xfrm>
            <a:off x="3682289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1" name="module 5 icon" descr="module 5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2309" y="4320540"/>
            <a:ext cx="320040" cy="32004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3682289" y="4983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Prediction / Decision</a:t>
            </a:r>
            <a:endParaRPr lang="en-US" sz="1900" dirty="0"/>
          </a:p>
        </p:txBody>
      </p:sp>
      <p:sp>
        <p:nvSpPr>
          <p:cNvPr id="33" name="Text 24"/>
          <p:cNvSpPr txBox="1"/>
          <p:nvPr/>
        </p:nvSpPr>
        <p:spPr>
          <a:xfrm>
            <a:off x="3682289" y="54223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Crop and probabilities</a:t>
            </a:r>
            <a:endParaRPr lang="en-US" sz="1600" dirty="0"/>
          </a:p>
        </p:txBody>
      </p:sp>
      <p:sp>
        <p:nvSpPr>
          <p:cNvPr id="34" name="module 6"/>
          <p:cNvSpPr/>
          <p:nvPr/>
        </p:nvSpPr>
        <p:spPr>
          <a:xfrm>
            <a:off x="6267298" y="3886200"/>
            <a:ext cx="25146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module 6 badge"/>
          <p:cNvSpPr/>
          <p:nvPr/>
        </p:nvSpPr>
        <p:spPr>
          <a:xfrm>
            <a:off x="6541618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module 6 icon" descr="module 6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1638" y="4320540"/>
            <a:ext cx="320040" cy="32004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541618" y="4983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Evaluation</a:t>
            </a:r>
            <a:endParaRPr lang="en-US" sz="1900" dirty="0"/>
          </a:p>
        </p:txBody>
      </p:sp>
      <p:sp>
        <p:nvSpPr>
          <p:cNvPr id="38" name="Text 28"/>
          <p:cNvSpPr txBox="1"/>
          <p:nvPr/>
        </p:nvSpPr>
        <p:spPr>
          <a:xfrm>
            <a:off x="6541618" y="54223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Accuracy, P, R, F1, matrix</a:t>
            </a:r>
            <a:endParaRPr lang="en-US" sz="1600" dirty="0"/>
          </a:p>
        </p:txBody>
      </p:sp>
      <p:sp>
        <p:nvSpPr>
          <p:cNvPr id="39" name="module 7"/>
          <p:cNvSpPr/>
          <p:nvPr/>
        </p:nvSpPr>
        <p:spPr>
          <a:xfrm>
            <a:off x="9126626" y="3886200"/>
            <a:ext cx="25146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module 7 badge"/>
          <p:cNvSpPr/>
          <p:nvPr/>
        </p:nvSpPr>
        <p:spPr>
          <a:xfrm>
            <a:off x="9400946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1" name="module 7 icon" descr="module 7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0966" y="4320540"/>
            <a:ext cx="320040" cy="320040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400946" y="4983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Reporting</a:t>
            </a:r>
            <a:endParaRPr lang="en-US" sz="1900" dirty="0"/>
          </a:p>
        </p:txBody>
      </p:sp>
      <p:sp>
        <p:nvSpPr>
          <p:cNvPr id="43" name="Text 32"/>
          <p:cNvSpPr txBox="1"/>
          <p:nvPr/>
        </p:nvSpPr>
        <p:spPr>
          <a:xfrm>
            <a:off x="9400946" y="54223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Plots and tables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9360470" cy="243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Implementation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3657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00"/>
              </a:spcAft>
              <a:buSzPct val="100000"/>
            </a:pP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212080" y="1600200"/>
            <a:ext cx="6217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257800" y="498348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2E6680-7BDD-7A36-ED99-C307412DD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55" y="931115"/>
            <a:ext cx="4585765" cy="33144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FB059C-AC55-4C68-68E3-11D715A3F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875" y="931115"/>
            <a:ext cx="6354147" cy="2884187"/>
          </a:xfrm>
          <a:prstGeom prst="rect">
            <a:avLst/>
          </a:prstGeom>
        </p:spPr>
      </p:pic>
      <p:sp>
        <p:nvSpPr>
          <p:cNvPr id="18" name="Text 8">
            <a:extLst>
              <a:ext uri="{FF2B5EF4-FFF2-40B4-BE49-F238E27FC236}">
                <a16:creationId xmlns:a16="http://schemas.microsoft.com/office/drawing/2014/main" id="{3414115E-C361-82DF-B98E-F874FC6CF229}"/>
              </a:ext>
            </a:extLst>
          </p:cNvPr>
          <p:cNvSpPr txBox="1"/>
          <p:nvPr/>
        </p:nvSpPr>
        <p:spPr>
          <a:xfrm>
            <a:off x="5410200" y="513588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EEE9C67C-F06C-9F84-211A-500820C670AC}"/>
              </a:ext>
            </a:extLst>
          </p:cNvPr>
          <p:cNvSpPr txBox="1"/>
          <p:nvPr/>
        </p:nvSpPr>
        <p:spPr>
          <a:xfrm>
            <a:off x="5562600" y="528828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2A9D918-15F5-0941-AC6F-A238E10B4D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2965" y="3890216"/>
            <a:ext cx="7073207" cy="27961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Dataset / Input Data</a:t>
            </a:r>
            <a:endParaRPr lang="en-US" sz="3600" dirty="0"/>
          </a:p>
        </p:txBody>
      </p:sp>
      <p:sp>
        <p:nvSpPr>
          <p:cNvPr id="4" name="stat records"/>
          <p:cNvSpPr/>
          <p:nvPr/>
        </p:nvSpPr>
        <p:spPr>
          <a:xfrm>
            <a:off x="548640" y="1417320"/>
            <a:ext cx="251460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48640" y="1600200"/>
            <a:ext cx="25146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2,200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82673"/>
            <a:ext cx="233172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records</a:t>
            </a:r>
            <a:endParaRPr lang="en-US" sz="1600" dirty="0"/>
          </a:p>
        </p:txBody>
      </p:sp>
      <p:sp>
        <p:nvSpPr>
          <p:cNvPr id="7" name="stat columns (7 inputs + label)"/>
          <p:cNvSpPr/>
          <p:nvPr/>
        </p:nvSpPr>
        <p:spPr>
          <a:xfrm>
            <a:off x="3407969" y="1417320"/>
            <a:ext cx="2514600" cy="123444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407969" y="1600200"/>
            <a:ext cx="25146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8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499409" y="2182673"/>
            <a:ext cx="233172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columns (7 inputs + label)</a:t>
            </a:r>
            <a:endParaRPr lang="en-US" sz="1600" dirty="0"/>
          </a:p>
        </p:txBody>
      </p:sp>
      <p:sp>
        <p:nvSpPr>
          <p:cNvPr id="10" name="stat crops, 100 each"/>
          <p:cNvSpPr/>
          <p:nvPr/>
        </p:nvSpPr>
        <p:spPr>
          <a:xfrm>
            <a:off x="6267298" y="1417320"/>
            <a:ext cx="2514600" cy="123444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267298" y="1600200"/>
            <a:ext cx="25146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22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358738" y="2182673"/>
            <a:ext cx="233172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crops, 100 each</a:t>
            </a:r>
            <a:endParaRPr lang="en-US" sz="1600" dirty="0"/>
          </a:p>
        </p:txBody>
      </p:sp>
      <p:sp>
        <p:nvSpPr>
          <p:cNvPr id="13" name="stat missing or duplicate rows"/>
          <p:cNvSpPr/>
          <p:nvPr/>
        </p:nvSpPr>
        <p:spPr>
          <a:xfrm>
            <a:off x="9126626" y="1417320"/>
            <a:ext cx="25146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126626" y="1600200"/>
            <a:ext cx="25146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0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9218066" y="2182673"/>
            <a:ext cx="233172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missing or duplicate rows</a:t>
            </a:r>
            <a:endParaRPr lang="en-US" sz="1600" dirty="0"/>
          </a:p>
        </p:txBody>
      </p:sp>
      <p:graphicFrame>
        <p:nvGraphicFramePr>
          <p:cNvPr id="3" name="fe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5486400" cy="307238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Range (mean)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2"/>
                          </a:solidFill>
                        </a:rPr>
                        <a:t>N (nitrogen)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</a:rPr>
                        <a:t>0 – 140 (50.6)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2"/>
                          </a:solidFill>
                        </a:rPr>
                        <a:t>P (phosphorus)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</a:rPr>
                        <a:t>5 – 145 (53.4)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2"/>
                          </a:solidFill>
                        </a:rPr>
                        <a:t>K (potassium)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</a:rPr>
                        <a:t>5 – 205 (48.2)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2"/>
                          </a:solidFill>
                        </a:rPr>
                        <a:t>Temperature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</a:rPr>
                        <a:t>8.8 – 43.7 °C (25.6)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2"/>
                          </a:solidFill>
                        </a:rPr>
                        <a:t>Humidity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</a:rPr>
                        <a:t>14.3 – 100 % (71.5)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2"/>
                          </a:solidFill>
                        </a:rPr>
                        <a:t>pH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</a:rPr>
                        <a:t>3.5 – 9.9 (6.5)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2"/>
                          </a:solidFill>
                        </a:rPr>
                        <a:t>Rainfall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</a:rPr>
                        <a:t>20.2 – 298.6 mm (103.5)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preprocessing card"/>
          <p:cNvSpPr/>
          <p:nvPr/>
        </p:nvSpPr>
        <p:spPr>
          <a:xfrm>
            <a:off x="6309360" y="2926080"/>
            <a:ext cx="5330952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658368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Data preprocessing</a:t>
            </a:r>
            <a:endParaRPr lang="en-US" sz="210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356616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 missing values or duplicates to fix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Outliers kept: genuine crop conditions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StandardScaler fitted on training data only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Stratified 80/20 split: 1,760 train, 440 test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Algorithm / Model</a:t>
            </a:r>
            <a:endParaRPr lang="en-US" sz="3600" dirty="0"/>
          </a:p>
        </p:txBody>
      </p:sp>
      <p:sp>
        <p:nvSpPr>
          <p:cNvPr id="4" name="architecture diagram"/>
          <p:cNvSpPr/>
          <p:nvPr/>
        </p:nvSpPr>
        <p:spPr>
          <a:xfrm>
            <a:off x="548640" y="1463040"/>
            <a:ext cx="5852160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input N"/>
          <p:cNvSpPr/>
          <p:nvPr/>
        </p:nvSpPr>
        <p:spPr>
          <a:xfrm>
            <a:off x="731520" y="1572768"/>
            <a:ext cx="731520" cy="292608"/>
          </a:xfrm>
          <a:prstGeom prst="roundRect">
            <a:avLst>
              <a:gd name="adj" fmla="val 31250"/>
            </a:avLst>
          </a:prstGeom>
          <a:solidFill>
            <a:schemeClr val="accent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57276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</a:t>
            </a:r>
            <a:endParaRPr lang="en-US" sz="1200" dirty="0"/>
          </a:p>
        </p:txBody>
      </p:sp>
      <p:sp>
        <p:nvSpPr>
          <p:cNvPr id="7" name="input P"/>
          <p:cNvSpPr/>
          <p:nvPr/>
        </p:nvSpPr>
        <p:spPr>
          <a:xfrm>
            <a:off x="731520" y="1920240"/>
            <a:ext cx="731520" cy="292608"/>
          </a:xfrm>
          <a:prstGeom prst="roundRect">
            <a:avLst>
              <a:gd name="adj" fmla="val 31250"/>
            </a:avLst>
          </a:prstGeom>
          <a:solidFill>
            <a:schemeClr val="accent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9202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</a:t>
            </a:r>
            <a:endParaRPr lang="en-US" sz="1200" dirty="0"/>
          </a:p>
        </p:txBody>
      </p:sp>
      <p:sp>
        <p:nvSpPr>
          <p:cNvPr id="9" name="input K"/>
          <p:cNvSpPr/>
          <p:nvPr/>
        </p:nvSpPr>
        <p:spPr>
          <a:xfrm>
            <a:off x="731520" y="2267712"/>
            <a:ext cx="731520" cy="292608"/>
          </a:xfrm>
          <a:prstGeom prst="roundRect">
            <a:avLst>
              <a:gd name="adj" fmla="val 31250"/>
            </a:avLst>
          </a:prstGeom>
          <a:solidFill>
            <a:schemeClr val="accent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22677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K</a:t>
            </a:r>
            <a:endParaRPr lang="en-US" sz="1200" dirty="0"/>
          </a:p>
        </p:txBody>
      </p:sp>
      <p:sp>
        <p:nvSpPr>
          <p:cNvPr id="11" name="input Temp"/>
          <p:cNvSpPr/>
          <p:nvPr/>
        </p:nvSpPr>
        <p:spPr>
          <a:xfrm>
            <a:off x="731520" y="2615184"/>
            <a:ext cx="731520" cy="292608"/>
          </a:xfrm>
          <a:prstGeom prst="roundRect">
            <a:avLst>
              <a:gd name="adj" fmla="val 31250"/>
            </a:avLst>
          </a:prstGeom>
          <a:solidFill>
            <a:schemeClr val="accent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26151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Temp</a:t>
            </a:r>
            <a:endParaRPr lang="en-US" sz="1200" dirty="0"/>
          </a:p>
        </p:txBody>
      </p:sp>
      <p:sp>
        <p:nvSpPr>
          <p:cNvPr id="13" name="input Hum"/>
          <p:cNvSpPr/>
          <p:nvPr/>
        </p:nvSpPr>
        <p:spPr>
          <a:xfrm>
            <a:off x="731520" y="2962656"/>
            <a:ext cx="731520" cy="292608"/>
          </a:xfrm>
          <a:prstGeom prst="roundRect">
            <a:avLst>
              <a:gd name="adj" fmla="val 31250"/>
            </a:avLst>
          </a:prstGeom>
          <a:solidFill>
            <a:schemeClr val="accent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31520" y="29626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Hum</a:t>
            </a:r>
            <a:endParaRPr lang="en-US" sz="1200" dirty="0"/>
          </a:p>
        </p:txBody>
      </p:sp>
      <p:sp>
        <p:nvSpPr>
          <p:cNvPr id="15" name="input pH"/>
          <p:cNvSpPr/>
          <p:nvPr/>
        </p:nvSpPr>
        <p:spPr>
          <a:xfrm>
            <a:off x="731520" y="3310128"/>
            <a:ext cx="731520" cy="292608"/>
          </a:xfrm>
          <a:prstGeom prst="roundRect">
            <a:avLst>
              <a:gd name="adj" fmla="val 31250"/>
            </a:avLst>
          </a:prstGeom>
          <a:solidFill>
            <a:schemeClr val="accent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33101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pH</a:t>
            </a:r>
            <a:endParaRPr lang="en-US" sz="1200" dirty="0"/>
          </a:p>
        </p:txBody>
      </p:sp>
      <p:sp>
        <p:nvSpPr>
          <p:cNvPr id="17" name="input Rain"/>
          <p:cNvSpPr/>
          <p:nvPr/>
        </p:nvSpPr>
        <p:spPr>
          <a:xfrm>
            <a:off x="731520" y="3657600"/>
            <a:ext cx="731520" cy="292608"/>
          </a:xfrm>
          <a:prstGeom prst="roundRect">
            <a:avLst>
              <a:gd name="adj" fmla="val 31250"/>
            </a:avLst>
          </a:prstGeom>
          <a:solidFill>
            <a:schemeClr val="accent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3657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Rain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466"/>
                </a:solidFill>
              </a:rPr>
              <a:t>7 inputs</a:t>
            </a:r>
            <a:endParaRPr lang="en-US" sz="1200" dirty="0"/>
          </a:p>
        </p:txBody>
      </p:sp>
      <p:sp>
        <p:nvSpPr>
          <p:cNvPr id="20" name="arrow"/>
          <p:cNvSpPr/>
          <p:nvPr/>
        </p:nvSpPr>
        <p:spPr>
          <a:xfrm>
            <a:off x="1554480" y="2743200"/>
            <a:ext cx="45720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1" name="softmax box"/>
          <p:cNvSpPr/>
          <p:nvPr/>
        </p:nvSpPr>
        <p:spPr>
          <a:xfrm>
            <a:off x="2103120" y="2057400"/>
            <a:ext cx="219456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2194560" y="20574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zₖ = wₖ · x + bₖ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Softmax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L2 regularised</a:t>
            </a:r>
            <a:endParaRPr lang="en-US" sz="1600" dirty="0"/>
          </a:p>
        </p:txBody>
      </p:sp>
      <p:sp>
        <p:nvSpPr>
          <p:cNvPr id="23" name="arrow"/>
          <p:cNvSpPr/>
          <p:nvPr/>
        </p:nvSpPr>
        <p:spPr>
          <a:xfrm>
            <a:off x="4389120" y="2743200"/>
            <a:ext cx="45720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4" name="output box"/>
          <p:cNvSpPr/>
          <p:nvPr/>
        </p:nvSpPr>
        <p:spPr>
          <a:xfrm>
            <a:off x="4937760" y="2240280"/>
            <a:ext cx="1280160" cy="1371600"/>
          </a:xfrm>
          <a:prstGeom prst="roundRect">
            <a:avLst>
              <a:gd name="adj" fmla="val 8571"/>
            </a:avLst>
          </a:prstGeom>
          <a:solidFill>
            <a:schemeClr val="accent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937760" y="22402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22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crop probabilities</a:t>
            </a:r>
            <a:endParaRPr lang="en-US" sz="1400" dirty="0"/>
          </a:p>
        </p:txBody>
      </p:sp>
      <p:sp>
        <p:nvSpPr>
          <p:cNvPr id="26" name="why selected"/>
          <p:cNvSpPr/>
          <p:nvPr/>
        </p:nvSpPr>
        <p:spPr>
          <a:xfrm>
            <a:off x="548640" y="4572000"/>
            <a:ext cx="58521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22960" y="4663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it was selected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50749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Handles 22 classes in a single model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Gives a probability for every crop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Fast to train and easy to interpret</a:t>
            </a:r>
            <a:endParaRPr lang="en-US" sz="1500" dirty="0"/>
          </a:p>
        </p:txBody>
      </p:sp>
      <p:sp>
        <p:nvSpPr>
          <p:cNvPr id="29" name="parameters card"/>
          <p:cNvSpPr/>
          <p:nvPr/>
        </p:nvSpPr>
        <p:spPr>
          <a:xfrm>
            <a:off x="6675120" y="1463040"/>
            <a:ext cx="4965192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4944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Important parameters</a:t>
            </a:r>
            <a:endParaRPr lang="en-US" sz="1900" dirty="0"/>
          </a:p>
        </p:txBody>
      </p:sp>
      <p:graphicFrame>
        <p:nvGraphicFramePr>
          <p:cNvPr id="3" name="paramete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194560"/>
          <a:ext cx="4434840" cy="3520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22"/>
                          </a:solidFill>
                        </a:rPr>
                        <a:t>Solver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</a:rPr>
                        <a:t>lbfgs (multinomial)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22"/>
                          </a:solidFill>
                        </a:rPr>
                        <a:t>Regularisation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</a:rPr>
                        <a:t>L2, C = 100 (tuned)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22"/>
                          </a:solidFill>
                        </a:rPr>
                        <a:t>Max iterations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</a:rPr>
                        <a:t>2000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22"/>
                          </a:solidFill>
                        </a:rPr>
                        <a:t>Scaling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</a:rPr>
                        <a:t>StandardScaler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22"/>
                          </a:solidFill>
                        </a:rPr>
                        <a:t>Train-test split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</a:rPr>
                        <a:t>80/20 stratified (seed 42)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22"/>
                          </a:solidFill>
                        </a:rPr>
                        <a:t>Cross-validation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</a:rPr>
                        <a:t>5-fold stratified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22"/>
                          </a:solidFill>
                        </a:rPr>
                        <a:t>C values tried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</a:rPr>
                        <a:t>0.01, 0.1, 1, 10, 100, 1000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Results: Performance</a:t>
            </a:r>
            <a:endParaRPr lang="en-US" sz="3600" dirty="0"/>
          </a:p>
        </p:txBody>
      </p:sp>
      <p:sp>
        <p:nvSpPr>
          <p:cNvPr id="4" name="stat Accuracy"/>
          <p:cNvSpPr/>
          <p:nvPr/>
        </p:nvSpPr>
        <p:spPr>
          <a:xfrm>
            <a:off x="548640" y="1417320"/>
            <a:ext cx="2514600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48640" y="1600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98.41%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211019"/>
            <a:ext cx="233172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Accuracy</a:t>
            </a:r>
            <a:endParaRPr lang="en-US" sz="1600" dirty="0"/>
          </a:p>
        </p:txBody>
      </p:sp>
      <p:sp>
        <p:nvSpPr>
          <p:cNvPr id="7" name="stat Precision"/>
          <p:cNvSpPr/>
          <p:nvPr/>
        </p:nvSpPr>
        <p:spPr>
          <a:xfrm>
            <a:off x="3407969" y="1417320"/>
            <a:ext cx="2514600" cy="1280160"/>
          </a:xfrm>
          <a:prstGeom prst="roundRect">
            <a:avLst>
              <a:gd name="adj" fmla="val 8571"/>
            </a:avLst>
          </a:prstGeom>
          <a:solidFill>
            <a:schemeClr val="accent5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407969" y="1600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98.52%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499409" y="2211019"/>
            <a:ext cx="233172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Precision</a:t>
            </a:r>
            <a:endParaRPr lang="en-US" sz="1600" dirty="0"/>
          </a:p>
        </p:txBody>
      </p:sp>
      <p:sp>
        <p:nvSpPr>
          <p:cNvPr id="10" name="stat Recall"/>
          <p:cNvSpPr/>
          <p:nvPr/>
        </p:nvSpPr>
        <p:spPr>
          <a:xfrm>
            <a:off x="6267298" y="1417320"/>
            <a:ext cx="2514600" cy="1280160"/>
          </a:xfrm>
          <a:prstGeom prst="roundRect">
            <a:avLst>
              <a:gd name="adj" fmla="val 8571"/>
            </a:avLst>
          </a:prstGeom>
          <a:solidFill>
            <a:schemeClr val="accent6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267298" y="1600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98.41%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358738" y="2211019"/>
            <a:ext cx="233172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Recall</a:t>
            </a:r>
            <a:endParaRPr lang="en-US" sz="1600" dirty="0"/>
          </a:p>
        </p:txBody>
      </p:sp>
      <p:sp>
        <p:nvSpPr>
          <p:cNvPr id="13" name="stat F1-score"/>
          <p:cNvSpPr/>
          <p:nvPr/>
        </p:nvSpPr>
        <p:spPr>
          <a:xfrm>
            <a:off x="9126626" y="1417320"/>
            <a:ext cx="251460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126626" y="1600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98.40%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9218066" y="2211019"/>
            <a:ext cx="233172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F1-score</a:t>
            </a:r>
            <a:endParaRPr lang="en-US" sz="16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2926080"/>
          <a:ext cx="6035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findings card"/>
          <p:cNvSpPr/>
          <p:nvPr/>
        </p:nvSpPr>
        <p:spPr>
          <a:xfrm>
            <a:off x="6858000" y="2926080"/>
            <a:ext cx="4782312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13232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Key findings</a:t>
            </a:r>
            <a:endParaRPr lang="en-US" sz="2100" dirty="0"/>
          </a:p>
        </p:txBody>
      </p:sp>
      <p:sp>
        <p:nvSpPr>
          <p:cNvPr id="19" name="Text 15"/>
          <p:cNvSpPr txBox="1"/>
          <p:nvPr/>
        </p:nvSpPr>
        <p:spPr>
          <a:xfrm>
            <a:off x="7132320" y="356616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433 of 440 test samples correct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5-fold CV on all data: 98.32% ± 0.18%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Tuning C lifted test accuracy from 97.27% (C = 1) to 98.41%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Train 99.03% vs test 98.41%: no serious overfitting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Results: Confusion Matrix</a:t>
            </a:r>
            <a:endParaRPr lang="en-US" sz="3600" dirty="0"/>
          </a:p>
        </p:txBody>
      </p:sp>
      <p:pic>
        <p:nvPicPr>
          <p:cNvPr id="4" name="confusion matrix" descr="Confusion matrix of the model on the test set, 22 cro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486400" cy="4663440"/>
          </a:xfrm>
          <a:prstGeom prst="rect">
            <a:avLst/>
          </a:prstGeom>
        </p:spPr>
      </p:pic>
      <p:sp>
        <p:nvSpPr>
          <p:cNvPr id="5" name="cm notes"/>
          <p:cNvSpPr/>
          <p:nvPr/>
        </p:nvSpPr>
        <p:spPr>
          <a:xfrm>
            <a:off x="6355080" y="1463040"/>
            <a:ext cx="5285232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662940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Reading the matrix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6629400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17 of 22 crops: all 20 test samples correct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Rice → jute 3 times (both high rainfall and humidity; rice weakest, F1 0.92)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Lentil ↔ moth beans: 1 each way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Pigeon peas → black gram: 1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Maize → cotton: 1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Results: Comparison with Other Methods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58521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120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7466"/>
                </a:solidFill>
              </a:rPr>
              <a:t>Axis starts at 95% to make small differences visible.</a:t>
            </a:r>
            <a:endParaRPr lang="en-US" sz="1100" dirty="0"/>
          </a:p>
        </p:txBody>
      </p:sp>
      <p:graphicFrame>
        <p:nvGraphicFramePr>
          <p:cNvPr id="1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463040"/>
          <a:ext cx="4965192" cy="9144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Acc.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Prec.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22"/>
                          </a:solidFill>
                        </a:rPr>
                        <a:t>LR (tuned)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A22"/>
                          </a:solidFill>
                        </a:rPr>
                        <a:t>98.41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A22"/>
                          </a:solidFill>
                        </a:rPr>
                        <a:t>98.52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A22"/>
                          </a:solidFill>
                        </a:rPr>
                        <a:t>98.41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A22"/>
                          </a:solidFill>
                        </a:rPr>
                        <a:t>98.40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Naive Bayes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99.55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99.59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99.55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99.54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KNN (k=5)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97.95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98.04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97.95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97.93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SVM (RBF)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98.41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98.56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98.41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98.40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Decision Tree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97.95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98.06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97.95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97.94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99.55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99.57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99.55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2"/>
                          </a:solidFill>
                        </a:rPr>
                        <a:t>99.55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comparison note"/>
          <p:cNvSpPr/>
          <p:nvPr/>
        </p:nvSpPr>
        <p:spPr>
          <a:xfrm>
            <a:off x="6675120" y="4434840"/>
            <a:ext cx="4965192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3"/>
          <p:cNvSpPr txBox="1"/>
          <p:nvPr/>
        </p:nvSpPr>
        <p:spPr>
          <a:xfrm>
            <a:off x="6903720" y="4526280"/>
            <a:ext cx="4526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Tuned LR ties SVM and beats KNN and Decision Tree. Naive Bayes and Random Forest score higher (99.55%), but LR is fast, interpretable and gives clear class probabilities.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7466"/>
                </a:solidFill>
              </a:rPr>
              <a:t>Weighted precision, recall and F1 on the same 440 test samples.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Demo: Input to Output</a:t>
            </a:r>
            <a:endParaRPr lang="en-US" sz="3600" dirty="0"/>
          </a:p>
        </p:txBody>
      </p:sp>
      <p:sp>
        <p:nvSpPr>
          <p:cNvPr id="4" name="demo panel 0"/>
          <p:cNvSpPr/>
          <p:nvPr/>
        </p:nvSpPr>
        <p:spPr>
          <a:xfrm>
            <a:off x="548640" y="1508760"/>
            <a:ext cx="2514600" cy="429768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demo header 0"/>
          <p:cNvSpPr/>
          <p:nvPr/>
        </p:nvSpPr>
        <p:spPr>
          <a:xfrm>
            <a:off x="548640" y="1508760"/>
            <a:ext cx="2514600" cy="594360"/>
          </a:xfrm>
          <a:prstGeom prst="roundRect">
            <a:avLst>
              <a:gd name="adj" fmla="val 18462"/>
            </a:avLst>
          </a:prstGeom>
          <a:solidFill>
            <a:schemeClr val="accent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1  Load data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8600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shape: (2200, 8)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P K temp hum ph rain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90 42 43 20.9 82.0 6.5 203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85 58 41 21.8 80.3 7.0 227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60 55 44 23.0 82.3 7.8 264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label: rice, rice, rice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3090672" y="3474720"/>
            <a:ext cx="27432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demo panel 1"/>
          <p:cNvSpPr/>
          <p:nvPr/>
        </p:nvSpPr>
        <p:spPr>
          <a:xfrm>
            <a:off x="3407969" y="1508760"/>
            <a:ext cx="2514600" cy="429768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demo header 1"/>
          <p:cNvSpPr/>
          <p:nvPr/>
        </p:nvSpPr>
        <p:spPr>
          <a:xfrm>
            <a:off x="3407969" y="1508760"/>
            <a:ext cx="2514600" cy="594360"/>
          </a:xfrm>
          <a:prstGeom prst="roundRect">
            <a:avLst>
              <a:gd name="adj" fmla="val 18462"/>
            </a:avLst>
          </a:prstGeom>
          <a:solidFill>
            <a:schemeClr val="accent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90849" y="1508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2  Input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45129" y="228600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90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42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43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20.9 °C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humidity = 82.0 %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 = 6.5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rainfall = 203.0 mm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5950001" y="3474720"/>
            <a:ext cx="27432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4" name="demo panel 2"/>
          <p:cNvSpPr/>
          <p:nvPr/>
        </p:nvSpPr>
        <p:spPr>
          <a:xfrm>
            <a:off x="6267298" y="1508760"/>
            <a:ext cx="2514600" cy="429768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demo header 2"/>
          <p:cNvSpPr/>
          <p:nvPr/>
        </p:nvSpPr>
        <p:spPr>
          <a:xfrm>
            <a:off x="6267298" y="1508760"/>
            <a:ext cx="251460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50178" y="1508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3  Processing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04458" y="228600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zero mean, unit variance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 scores zₖ for 22 crops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 → probabilities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highest probability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8809330" y="3474720"/>
            <a:ext cx="27432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9" name="demo panel 3"/>
          <p:cNvSpPr/>
          <p:nvPr/>
        </p:nvSpPr>
        <p:spPr>
          <a:xfrm>
            <a:off x="9126626" y="1508760"/>
            <a:ext cx="2514600" cy="429768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demo header 3"/>
          <p:cNvSpPr/>
          <p:nvPr/>
        </p:nvSpPr>
        <p:spPr>
          <a:xfrm>
            <a:off x="9126626" y="1508760"/>
            <a:ext cx="2514600" cy="594360"/>
          </a:xfrm>
          <a:prstGeom prst="roundRect">
            <a:avLst>
              <a:gd name="adj" fmla="val 18462"/>
            </a:avLst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309506" y="1508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4  Output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63786" y="228600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 crop: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RICE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rice    92.7 %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jute     7.3 %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maize    0.0 %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7466"/>
                </a:solidFill>
              </a:rPr>
              <a:t>A web interface for farmers is planned as future scope.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Advantages</a:t>
            </a:r>
            <a:endParaRPr lang="en-US" sz="3600" dirty="0"/>
          </a:p>
        </p:txBody>
      </p:sp>
      <p:sp>
        <p:nvSpPr>
          <p:cNvPr id="4" name="adv 0"/>
          <p:cNvSpPr/>
          <p:nvPr/>
        </p:nvSpPr>
        <p:spPr>
          <a:xfrm>
            <a:off x="548640" y="1463040"/>
            <a:ext cx="47548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adv 0 badge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dv 0 icon" descr="adv 0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0594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14630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Fast and lightweight</a:t>
            </a:r>
            <a:endParaRPr lang="en-US" sz="2000" dirty="0"/>
          </a:p>
        </p:txBody>
      </p:sp>
      <p:sp>
        <p:nvSpPr>
          <p:cNvPr id="8" name="adv 1"/>
          <p:cNvSpPr/>
          <p:nvPr/>
        </p:nvSpPr>
        <p:spPr>
          <a:xfrm>
            <a:off x="548640" y="2633472"/>
            <a:ext cx="47548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adv 1 badge"/>
          <p:cNvSpPr/>
          <p:nvPr/>
        </p:nvSpPr>
        <p:spPr>
          <a:xfrm>
            <a:off x="777240" y="2816352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adv 1 icon" descr="adv 1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2976372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45920" y="263347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High accuracy: 98.41%</a:t>
            </a:r>
            <a:endParaRPr lang="en-US" sz="2000" dirty="0"/>
          </a:p>
        </p:txBody>
      </p:sp>
      <p:sp>
        <p:nvSpPr>
          <p:cNvPr id="12" name="adv 2"/>
          <p:cNvSpPr/>
          <p:nvPr/>
        </p:nvSpPr>
        <p:spPr>
          <a:xfrm>
            <a:off x="548640" y="3803904"/>
            <a:ext cx="47548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adv 2 badge"/>
          <p:cNvSpPr/>
          <p:nvPr/>
        </p:nvSpPr>
        <p:spPr>
          <a:xfrm>
            <a:off x="777240" y="3986784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4" name="adv 2 icon" descr="adv 2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146804"/>
            <a:ext cx="320040" cy="3200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45920" y="3803904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Probability for each crop</a:t>
            </a:r>
            <a:endParaRPr lang="en-US" sz="2000" dirty="0"/>
          </a:p>
        </p:txBody>
      </p:sp>
      <p:sp>
        <p:nvSpPr>
          <p:cNvPr id="16" name="adv 3"/>
          <p:cNvSpPr/>
          <p:nvPr/>
        </p:nvSpPr>
        <p:spPr>
          <a:xfrm>
            <a:off x="548640" y="4974336"/>
            <a:ext cx="47548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adv 3 badge"/>
          <p:cNvSpPr/>
          <p:nvPr/>
        </p:nvSpPr>
        <p:spPr>
          <a:xfrm>
            <a:off x="777240" y="515721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adv 3 icon" descr="adv 3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5317236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645920" y="4974336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Interpretable coefficients</a:t>
            </a:r>
            <a:endParaRPr lang="en-US" sz="2000" dirty="0"/>
          </a:p>
        </p:txBody>
      </p:sp>
      <p:graphicFrame>
        <p:nvGraphicFramePr>
          <p:cNvPr id="20" name="improve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63040"/>
          <a:ext cx="6062472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Aspect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Existing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Proposed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2A22"/>
                          </a:solidFill>
                        </a:rPr>
                        <a:t>Basis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22"/>
                          </a:solidFill>
                        </a:rPr>
                        <a:t>Experience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D36"/>
                          </a:solidFill>
                        </a:rPr>
                        <a:t>Data and ML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2A22"/>
                          </a:solidFill>
                        </a:rPr>
                        <a:t>Factors used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22"/>
                          </a:solidFill>
                        </a:rPr>
                        <a:t>A few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D36"/>
                          </a:solidFill>
                        </a:rPr>
                        <a:t>All 7 together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2A22"/>
                          </a:solidFill>
                        </a:rPr>
                        <a:t>Output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22"/>
                          </a:solidFill>
                        </a:rPr>
                        <a:t>A guess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D36"/>
                          </a:solidFill>
                        </a:rPr>
                        <a:t>Crop + probability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2A22"/>
                          </a:solidFill>
                        </a:rPr>
                        <a:t>Speed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22"/>
                          </a:solidFill>
                        </a:rPr>
                        <a:t>Slow, manual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D36"/>
                          </a:solidFill>
                        </a:rPr>
                        <a:t>Instant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2A22"/>
                          </a:solidFill>
                        </a:rPr>
                        <a:t>Accuracy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22"/>
                          </a:solidFill>
                        </a:rPr>
                        <a:t>Not measured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D36"/>
                          </a:solidFill>
                        </a:rPr>
                        <a:t>98.41% on test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Applications</a:t>
            </a:r>
            <a:endParaRPr lang="en-US" sz="3600" dirty="0"/>
          </a:p>
        </p:txBody>
      </p:sp>
      <p:sp>
        <p:nvSpPr>
          <p:cNvPr id="4" name="app 0"/>
          <p:cNvSpPr/>
          <p:nvPr/>
        </p:nvSpPr>
        <p:spPr>
          <a:xfrm>
            <a:off x="548640" y="1463040"/>
            <a:ext cx="5422392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app 0 badge"/>
          <p:cNvSpPr/>
          <p:nvPr/>
        </p:nvSpPr>
        <p:spPr>
          <a:xfrm>
            <a:off x="82296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pp 0 icon" descr="app 0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1259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92024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Farm-level crop planning</a:t>
            </a:r>
            <a:endParaRPr lang="en-US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1920240" y="2240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Choose a crop before each season from soil and weather data</a:t>
            </a:r>
            <a:endParaRPr lang="en-US" sz="1700" dirty="0"/>
          </a:p>
        </p:txBody>
      </p:sp>
      <p:sp>
        <p:nvSpPr>
          <p:cNvPr id="9" name="app 1"/>
          <p:cNvSpPr/>
          <p:nvPr/>
        </p:nvSpPr>
        <p:spPr>
          <a:xfrm>
            <a:off x="6217920" y="1463040"/>
            <a:ext cx="5422392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app 1 badge"/>
          <p:cNvSpPr/>
          <p:nvPr/>
        </p:nvSpPr>
        <p:spPr>
          <a:xfrm>
            <a:off x="6492240" y="192024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app 1 icon" descr="app 1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212598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8952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Agricultural advisory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7589520" y="2240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Support extension workers and soil-testing labs</a:t>
            </a:r>
            <a:endParaRPr lang="en-US" sz="1700" dirty="0"/>
          </a:p>
        </p:txBody>
      </p:sp>
      <p:sp>
        <p:nvSpPr>
          <p:cNvPr id="14" name="app 2"/>
          <p:cNvSpPr/>
          <p:nvPr/>
        </p:nvSpPr>
        <p:spPr>
          <a:xfrm>
            <a:off x="548640" y="3383280"/>
            <a:ext cx="5422392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app 2 badge"/>
          <p:cNvSpPr/>
          <p:nvPr/>
        </p:nvSpPr>
        <p:spPr>
          <a:xfrm>
            <a:off x="822960" y="384048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app 2 icon" descr="app 2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404622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920240" y="3657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Agri-tech platforms</a:t>
            </a:r>
            <a:endParaRPr lang="en-US" sz="2100" dirty="0"/>
          </a:p>
        </p:txBody>
      </p:sp>
      <p:sp>
        <p:nvSpPr>
          <p:cNvPr id="18" name="Text 12"/>
          <p:cNvSpPr txBox="1"/>
          <p:nvPr/>
        </p:nvSpPr>
        <p:spPr>
          <a:xfrm>
            <a:off x="1920240" y="4160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Embed in smart-farming apps and services</a:t>
            </a:r>
            <a:endParaRPr lang="en-US" sz="1700" dirty="0"/>
          </a:p>
        </p:txBody>
      </p:sp>
      <p:sp>
        <p:nvSpPr>
          <p:cNvPr id="19" name="app 3"/>
          <p:cNvSpPr/>
          <p:nvPr/>
        </p:nvSpPr>
        <p:spPr>
          <a:xfrm>
            <a:off x="6217920" y="3383280"/>
            <a:ext cx="5422392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app 3 badge"/>
          <p:cNvSpPr/>
          <p:nvPr/>
        </p:nvSpPr>
        <p:spPr>
          <a:xfrm>
            <a:off x="6492240" y="3840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app 3 icon" descr="app 3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980" y="404622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589520" y="3657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Education and research</a:t>
            </a:r>
            <a:endParaRPr lang="en-US" sz="2100" dirty="0"/>
          </a:p>
        </p:txBody>
      </p:sp>
      <p:sp>
        <p:nvSpPr>
          <p:cNvPr id="23" name="Text 16"/>
          <p:cNvSpPr txBox="1"/>
          <p:nvPr/>
        </p:nvSpPr>
        <p:spPr>
          <a:xfrm>
            <a:off x="7589520" y="4160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Teaching example of multi-class classification</a:t>
            </a:r>
            <a:endParaRPr lang="en-US" sz="1700" dirty="0"/>
          </a:p>
        </p:txBody>
      </p:sp>
      <p:sp>
        <p:nvSpPr>
          <p:cNvPr id="24" name="target users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TARGET USERS   </a:t>
            </a:r>
            <a:r>
              <a:rPr lang="en-US" sz="1700" dirty="0">
                <a:solidFill>
                  <a:schemeClr val="bg1"/>
                </a:solidFill>
              </a:rPr>
              <a:t>Farmers  •  Agronomists  •  Agri-tech companies  •  Students and researchers</a:t>
            </a:r>
            <a:endParaRPr lang="en-US" sz="17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Limitations</a:t>
            </a:r>
            <a:endParaRPr lang="en-US" sz="3600" dirty="0"/>
          </a:p>
        </p:txBody>
      </p:sp>
      <p:sp>
        <p:nvSpPr>
          <p:cNvPr id="4" name="current limits"/>
          <p:cNvSpPr/>
          <p:nvPr/>
        </p:nvSpPr>
        <p:spPr>
          <a:xfrm>
            <a:off x="548640" y="1463040"/>
            <a:ext cx="5440680" cy="4617720"/>
          </a:xfrm>
          <a:prstGeom prst="roundRect">
            <a:avLst>
              <a:gd name="adj" fmla="val 237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limit a badge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limit a icon" descr="limit a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85166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Current limitations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56032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Linear model: cannot capture complex non-linear interactions (rice is confused with jute)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Only 7 inputs: no soil type, season, location, irrigation or market price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Advisory only: verify against local conditions</a:t>
            </a:r>
            <a:endParaRPr lang="en-US" sz="1800" dirty="0"/>
          </a:p>
        </p:txBody>
      </p:sp>
      <p:sp>
        <p:nvSpPr>
          <p:cNvPr id="9" name="dataset limits"/>
          <p:cNvSpPr/>
          <p:nvPr/>
        </p:nvSpPr>
        <p:spPr>
          <a:xfrm>
            <a:off x="6199632" y="1463040"/>
            <a:ext cx="5440680" cy="4617720"/>
          </a:xfrm>
          <a:prstGeom prst="roundRect">
            <a:avLst>
              <a:gd name="adj" fmla="val 237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limit b badge"/>
          <p:cNvSpPr/>
          <p:nvPr/>
        </p:nvSpPr>
        <p:spPr>
          <a:xfrm>
            <a:off x="6473952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limit b icon" descr="limit 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18516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296912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Dataset / technical constraints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6473952" y="256032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Curated, clean, balanced data (100 per crop); real field data is noisier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climate value per record: no seasonal variation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Naive Bayes and Random Forest scored higher here (99.55% vs 98.41%)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Future Scope</a:t>
            </a:r>
            <a:endParaRPr lang="en-US" sz="3600" dirty="0"/>
          </a:p>
        </p:txBody>
      </p:sp>
      <p:sp>
        <p:nvSpPr>
          <p:cNvPr id="4" name="future 0"/>
          <p:cNvSpPr/>
          <p:nvPr/>
        </p:nvSpPr>
        <p:spPr>
          <a:xfrm>
            <a:off x="548640" y="150876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future 0 badg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future 0 icon" descr="future 0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1977390"/>
            <a:ext cx="388620" cy="3886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chemeClr val="tx2"/>
                </a:solidFill>
              </a:rPr>
              <a:t>Possible improvements</a:t>
            </a:r>
            <a:endParaRPr lang="en-US" sz="23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342900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Compare Random Forest, SVM, XGBoost, neural networks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Automated hyperparameter search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Ensemble of models</a:t>
            </a:r>
            <a:endParaRPr lang="en-US" sz="1700" dirty="0"/>
          </a:p>
        </p:txBody>
      </p:sp>
      <p:sp>
        <p:nvSpPr>
          <p:cNvPr id="9" name="future 1"/>
          <p:cNvSpPr/>
          <p:nvPr/>
        </p:nvSpPr>
        <p:spPr>
          <a:xfrm>
            <a:off x="4334256" y="150876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future 1 badge"/>
          <p:cNvSpPr/>
          <p:nvPr/>
        </p:nvSpPr>
        <p:spPr>
          <a:xfrm>
            <a:off x="4654296" y="1783080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future 1 icon" descr="future 1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606" y="1977390"/>
            <a:ext cx="388620" cy="3886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54296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chemeClr val="tx2"/>
                </a:solidFill>
              </a:rPr>
              <a:t>Additional features</a:t>
            </a:r>
            <a:endParaRPr lang="en-US" sz="2300" dirty="0"/>
          </a:p>
        </p:txBody>
      </p:sp>
      <p:sp>
        <p:nvSpPr>
          <p:cNvPr id="13" name="Text 8"/>
          <p:cNvSpPr txBox="1"/>
          <p:nvPr/>
        </p:nvSpPr>
        <p:spPr>
          <a:xfrm>
            <a:off x="4654296" y="342900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Soil type, season and location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Market price and expected yield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Fertiliser advice for the chosen crop</a:t>
            </a:r>
            <a:endParaRPr lang="en-US" sz="1700" dirty="0"/>
          </a:p>
        </p:txBody>
      </p:sp>
      <p:sp>
        <p:nvSpPr>
          <p:cNvPr id="14" name="future 2"/>
          <p:cNvSpPr/>
          <p:nvPr/>
        </p:nvSpPr>
        <p:spPr>
          <a:xfrm>
            <a:off x="8119872" y="150876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future 2 badge"/>
          <p:cNvSpPr/>
          <p:nvPr/>
        </p:nvSpPr>
        <p:spPr>
          <a:xfrm>
            <a:off x="8439912" y="178308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future 2 icon" descr="future 2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222" y="1977390"/>
            <a:ext cx="388620" cy="3886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39912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chemeClr val="tx2"/>
                </a:solidFill>
              </a:rPr>
              <a:t>Deployment / scaling</a:t>
            </a:r>
            <a:endParaRPr lang="en-US" sz="2300" dirty="0"/>
          </a:p>
        </p:txBody>
      </p:sp>
      <p:sp>
        <p:nvSpPr>
          <p:cNvPr id="18" name="Text 12"/>
          <p:cNvSpPr txBox="1"/>
          <p:nvPr/>
        </p:nvSpPr>
        <p:spPr>
          <a:xfrm>
            <a:off x="8439912" y="342900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Web or mobile app with an input form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API with live weather feed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Regional field datasets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E74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4" name="conclusion 0"/>
          <p:cNvSpPr/>
          <p:nvPr/>
        </p:nvSpPr>
        <p:spPr>
          <a:xfrm>
            <a:off x="548640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2A604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Achieved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46888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 crop recommender using Multinomial Logistic Regression on 2,200 records covering 22 crops.</a:t>
            </a:r>
            <a:endParaRPr lang="en-US" sz="2000" dirty="0"/>
          </a:p>
        </p:txBody>
      </p:sp>
      <p:sp>
        <p:nvSpPr>
          <p:cNvPr id="7" name="conclusion 1"/>
          <p:cNvSpPr/>
          <p:nvPr/>
        </p:nvSpPr>
        <p:spPr>
          <a:xfrm>
            <a:off x="4334256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2A604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654296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Key outcome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654296" y="246888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98.41% test accuracy and 98.32% cross-validated accuracy; only 7 of 440 test errors.</a:t>
            </a:r>
            <a:endParaRPr lang="en-US" sz="2000" dirty="0"/>
          </a:p>
        </p:txBody>
      </p:sp>
      <p:sp>
        <p:nvSpPr>
          <p:cNvPr id="10" name="conclusion 2"/>
          <p:cNvSpPr/>
          <p:nvPr/>
        </p:nvSpPr>
        <p:spPr>
          <a:xfrm>
            <a:off x="8119872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2A60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439912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Overall contribution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439912" y="246888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 fast, interpretable ML baseline that supports data-driven crop decisions.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166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|  Questions?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7D0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op Green">
  <a:themeElements>
    <a:clrScheme name="Crop Green">
      <a:dk1>
        <a:srgbClr val="1B2A22"/>
      </a:dk1>
      <a:lt1>
        <a:srgbClr val="FFFFFF"/>
      </a:lt1>
      <a:dk2>
        <a:srgbClr val="1F4D36"/>
      </a:dk2>
      <a:lt2>
        <a:srgbClr val="EEF4EF"/>
      </a:lt2>
      <a:accent1>
        <a:srgbClr val="2E7D4F"/>
      </a:accent1>
      <a:accent2>
        <a:srgbClr val="E0A526"/>
      </a:accent2>
      <a:accent3>
        <a:srgbClr val="6FA77F"/>
      </a:accent3>
      <a:accent4>
        <a:srgbClr val="C8553D"/>
      </a:accent4>
      <a:accent5>
        <a:srgbClr val="3F7CAC"/>
      </a:accent5>
      <a:accent6>
        <a:srgbClr val="7A5C3E"/>
      </a:accent6>
      <a:hlink>
        <a:srgbClr val="2E7D4F"/>
      </a:hlink>
      <a:folHlink>
        <a:srgbClr val="7A5C3E"/>
      </a:folHlink>
    </a:clrScheme>
    <a:fontScheme name="Crop 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2056</Words>
  <Application>Microsoft Office PowerPoint</Application>
  <PresentationFormat>Widescreen</PresentationFormat>
  <Paragraphs>448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Crop Green</vt:lpstr>
      <vt:lpstr>Crop Recommendation Using Multinomial Logistic Regression</vt:lpstr>
      <vt:lpstr>Introduction</vt:lpstr>
      <vt:lpstr>Problem Statement</vt:lpstr>
      <vt:lpstr>Motivation</vt:lpstr>
      <vt:lpstr>Objectives</vt:lpstr>
      <vt:lpstr>Existing System</vt:lpstr>
      <vt:lpstr>Proposed System</vt:lpstr>
      <vt:lpstr>System Architecture</vt:lpstr>
      <vt:lpstr>Methodology / Workflow</vt:lpstr>
      <vt:lpstr>Technology Stack</vt:lpstr>
      <vt:lpstr>System Modules / Components</vt:lpstr>
      <vt:lpstr>Implementation</vt:lpstr>
      <vt:lpstr>Dataset / Input Data</vt:lpstr>
      <vt:lpstr>Algorithm / Model</vt:lpstr>
      <vt:lpstr>Results: Performance</vt:lpstr>
      <vt:lpstr>Results: Confusion Matrix</vt:lpstr>
      <vt:lpstr>Results: Comparison with Other Methods</vt:lpstr>
      <vt:lpstr>Demo: Input to Output</vt:lpstr>
      <vt:lpstr>Advantages</vt:lpstr>
      <vt:lpstr>Applications</vt:lpstr>
      <vt:lpstr>Limitations</vt:lpstr>
      <vt:lpstr>Future Scope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Recommendation Using Multinomial Logistic Regression</dc:title>
  <dc:subject>PptxGenJS Presentation</dc:subject>
  <dc:creator>CH. Sai Vihamsh, S. Pardhu Saradhi, I. Vikram</dc:creator>
  <cp:lastModifiedBy>pardhu singampalli</cp:lastModifiedBy>
  <cp:revision>2</cp:revision>
  <dcterms:created xsi:type="dcterms:W3CDTF">2026-10-14T05:50:47Z</dcterms:created>
  <dcterms:modified xsi:type="dcterms:W3CDTF">2026-10-14T05:58:24Z</dcterms:modified>
</cp:coreProperties>
</file>